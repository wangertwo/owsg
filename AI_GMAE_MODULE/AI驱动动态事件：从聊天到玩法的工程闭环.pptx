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8" r:id="rId4"/>
    <p:sldId id="259" r:id="rId5"/>
    <p:sldId id="27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9" r:id="rId16"/>
    <p:sldId id="271" r:id="rId17"/>
    <p:sldId id="272" r:id="rId18"/>
    <p:sldId id="280" r:id="rId19"/>
    <p:sldId id="274" r:id="rId20"/>
    <p:sldId id="276" r:id="rId21"/>
  </p:sldIdLst>
  <p:sldSz cx="24384000" cy="13716000"/>
  <p:notesSz cx="13716000" cy="24384000"/>
  <p:embeddedFontLst>
    <p:embeddedFont>
      <p:font typeface="MiSans" pitchFamily="50" charset="-122"/>
      <p:regular r:id="rId23"/>
    </p:embeddedFont>
    <p:embeddedFont>
      <p:font typeface="微软雅黑" panose="020B0503020204020204" pitchFamily="34" charset="-122"/>
      <p:regular r:id="rId24"/>
      <p:bold r:id="rId2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12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553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2C265-76CA-43C3-B431-33EE5517A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D9DEA-DD93-B821-13BA-6D9CB6DE1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72ACE-F34F-02E0-04A2-68B361779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A3F7A-7C21-67B4-8B9A-865C4E4ED5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53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jp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svg"/><Relationship Id="rId3" Type="http://schemas.openxmlformats.org/officeDocument/2006/relationships/image" Target="../media/image1.jpeg"/><Relationship Id="rId7" Type="http://schemas.openxmlformats.org/officeDocument/2006/relationships/image" Target="../media/image22.sv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30.svg"/><Relationship Id="rId5" Type="http://schemas.openxmlformats.org/officeDocument/2006/relationships/image" Target="../media/image20.svg"/><Relationship Id="rId10" Type="http://schemas.openxmlformats.org/officeDocument/2006/relationships/image" Target="../media/image29.svg"/><Relationship Id="rId4" Type="http://schemas.openxmlformats.org/officeDocument/2006/relationships/image" Target="../media/image26.svg"/><Relationship Id="rId9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1.jpeg"/><Relationship Id="rId7" Type="http://schemas.openxmlformats.org/officeDocument/2006/relationships/image" Target="../media/image38.svg"/><Relationship Id="rId12" Type="http://schemas.openxmlformats.org/officeDocument/2006/relationships/image" Target="../media/image4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1.jpe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svg"/><Relationship Id="rId11" Type="http://schemas.openxmlformats.org/officeDocument/2006/relationships/image" Target="../media/image51.svg"/><Relationship Id="rId5" Type="http://schemas.openxmlformats.org/officeDocument/2006/relationships/image" Target="../media/image45.sv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4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svg"/><Relationship Id="rId5" Type="http://schemas.openxmlformats.org/officeDocument/2006/relationships/image" Target="../media/image54.svg"/><Relationship Id="rId4" Type="http://schemas.openxmlformats.org/officeDocument/2006/relationships/image" Target="../media/image5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svg"/><Relationship Id="rId5" Type="http://schemas.openxmlformats.org/officeDocument/2006/relationships/image" Target="../media/image58.svg"/><Relationship Id="rId4" Type="http://schemas.openxmlformats.org/officeDocument/2006/relationships/image" Target="../media/image57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1.jpeg"/><Relationship Id="rId7" Type="http://schemas.openxmlformats.org/officeDocument/2006/relationships/image" Target="../media/image6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svg"/><Relationship Id="rId5" Type="http://schemas.openxmlformats.org/officeDocument/2006/relationships/image" Target="../media/image61.svg"/><Relationship Id="rId4" Type="http://schemas.openxmlformats.org/officeDocument/2006/relationships/image" Target="../media/image60.svg"/><Relationship Id="rId9" Type="http://schemas.openxmlformats.org/officeDocument/2006/relationships/image" Target="../media/image6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jpe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18-d2sh1rm1bb2p4onbp35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87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92671" y="3442586"/>
            <a:ext cx="13223935" cy="1008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NPC </a:t>
            </a:r>
            <a:r>
              <a:rPr lang="zh-CN" alt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与可验证动态事件系统</a:t>
            </a:r>
            <a:endParaRPr lang="en-US" sz="800" dirty="0"/>
          </a:p>
        </p:txBody>
      </p:sp>
      <p:pic>
        <p:nvPicPr>
          <p:cNvPr id="4" name="Image 1" descr="https://kimi-img.moonshot.cn/pub/slides/slides_tmpl/image/25-09-04-12:09:12-d2sh1q61bb2p4onbp28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6728" y="10974808"/>
            <a:ext cx="4712970" cy="863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02608" y="10890035"/>
            <a:ext cx="4601210" cy="103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王光耀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09-04-12:09:12-d2sh1q61bb2p4onbp29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058897" y="10992614"/>
            <a:ext cx="5511800" cy="863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7113893" y="10907841"/>
            <a:ext cx="5370830" cy="103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时间：2026/05/18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912928" y="685800"/>
            <a:ext cx="342943" cy="3556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4"/>
          <p:cNvSpPr/>
          <p:nvPr/>
        </p:nvSpPr>
        <p:spPr>
          <a:xfrm>
            <a:off x="1357484" y="685800"/>
            <a:ext cx="342943" cy="355600"/>
          </a:xfrm>
          <a:prstGeom prst="ellipse">
            <a:avLst/>
          </a:prstGeom>
          <a:solidFill>
            <a:srgbClr val="718BA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3" descr="https://kimi-img.moonshot.cn/pub/slides/slides_tmpl/image/25-09-04-12:09:12-d2sh1q61bb2p4onbp29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02038" y="685800"/>
            <a:ext cx="355644" cy="3556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4770360" y="4038600"/>
            <a:ext cx="824929" cy="824826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6"/>
          <p:cNvSpPr/>
          <p:nvPr/>
        </p:nvSpPr>
        <p:spPr>
          <a:xfrm>
            <a:off x="15132525" y="4038600"/>
            <a:ext cx="824929" cy="824826"/>
          </a:xfrm>
          <a:prstGeom prst="ellipse">
            <a:avLst/>
          </a:prstGeom>
          <a:solidFill>
            <a:srgbClr val="D9D9D9">
              <a:alpha val="5098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7"/>
          <p:cNvSpPr/>
          <p:nvPr/>
        </p:nvSpPr>
        <p:spPr>
          <a:xfrm>
            <a:off x="15494689" y="4038600"/>
            <a:ext cx="824929" cy="824826"/>
          </a:xfrm>
          <a:prstGeom prst="ellipse">
            <a:avLst/>
          </a:prstGeom>
          <a:solidFill>
            <a:srgbClr val="D9D9D9">
              <a:alpha val="10196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8"/>
          <p:cNvSpPr/>
          <p:nvPr/>
        </p:nvSpPr>
        <p:spPr>
          <a:xfrm>
            <a:off x="15856851" y="4038600"/>
            <a:ext cx="824929" cy="824826"/>
          </a:xfrm>
          <a:prstGeom prst="ellipse">
            <a:avLst/>
          </a:prstGeom>
          <a:solidFill>
            <a:srgbClr val="D9D9D9">
              <a:alpha val="14902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9"/>
          <p:cNvSpPr/>
          <p:nvPr/>
        </p:nvSpPr>
        <p:spPr>
          <a:xfrm>
            <a:off x="16219016" y="4038600"/>
            <a:ext cx="824929" cy="824826"/>
          </a:xfrm>
          <a:prstGeom prst="ellipse">
            <a:avLst/>
          </a:prstGeom>
          <a:solidFill>
            <a:srgbClr val="D9D9D9">
              <a:alpha val="20000"/>
            </a:srgbClr>
          </a:solidFill>
          <a:ln w="12700">
            <a:solidFill>
              <a:srgbClr val="FFFFF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4" descr="https://kimi-img.moonshot.cn/pub/slides/slides_tmpl/image/25-09-04-12:09:12-d2sh1q61bb2p4onbp2a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79961" y="10185401"/>
            <a:ext cx="12702" cy="1670813"/>
          </a:xfrm>
          <a:prstGeom prst="rect">
            <a:avLst/>
          </a:prstGeom>
        </p:spPr>
      </p:pic>
      <p:pic>
        <p:nvPicPr>
          <p:cNvPr id="17" name="Image 5" descr="https://kimi-img.moonshot.cn/pub/slides/slides_tmpl/image/25-09-04-12:09:12-d2sh1q61bb2p4onbp2a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89936" y="11308414"/>
            <a:ext cx="502420" cy="562952"/>
          </a:xfrm>
          <a:prstGeom prst="rect">
            <a:avLst/>
          </a:prstGeom>
        </p:spPr>
      </p:pic>
      <p:pic>
        <p:nvPicPr>
          <p:cNvPr id="18" name="Image 6" descr="https://kimi-img.moonshot.cn/pub/slides/slides_tmpl/image/25-09-04-12:09:12-d2sh1q61bb2p4onbp2b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80267" y="11308414"/>
            <a:ext cx="502420" cy="562952"/>
          </a:xfrm>
          <a:prstGeom prst="rect">
            <a:avLst/>
          </a:prstGeom>
        </p:spPr>
      </p:pic>
      <p:pic>
        <p:nvPicPr>
          <p:cNvPr id="19" name="Image 7" descr="https://kimi-img.moonshot.cn/pub/slides/slides_tmpl/image/25-09-04-12:09:13-d2sh1qe1bb2p4onbp2b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67960" y="1035050"/>
            <a:ext cx="14073359" cy="1270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19241319" y="952500"/>
            <a:ext cx="165121" cy="165100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1"/>
          <p:cNvSpPr/>
          <p:nvPr/>
        </p:nvSpPr>
        <p:spPr>
          <a:xfrm>
            <a:off x="12445970" y="3657600"/>
            <a:ext cx="165121" cy="165100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2"/>
          <p:cNvSpPr/>
          <p:nvPr/>
        </p:nvSpPr>
        <p:spPr>
          <a:xfrm>
            <a:off x="5079049" y="952500"/>
            <a:ext cx="165121" cy="165100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3"/>
          <p:cNvSpPr/>
          <p:nvPr/>
        </p:nvSpPr>
        <p:spPr>
          <a:xfrm>
            <a:off x="12153832" y="660400"/>
            <a:ext cx="749394" cy="7493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8" descr="https://kimi-img.moonshot.cn/pub/slides/slides_tmpl/image/25-09-04-12:09:13-d2sh1qe1bb2p4onbp2c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528529" y="1422400"/>
            <a:ext cx="12702" cy="2235200"/>
          </a:xfrm>
          <a:prstGeom prst="rect">
            <a:avLst/>
          </a:prstGeom>
        </p:spPr>
      </p:pic>
      <p:pic>
        <p:nvPicPr>
          <p:cNvPr id="25" name="Image 1" descr="https://kimi-img.moonshot.cn/pub/slides/slides_tmpl/image/25-09-04-12:09:12-d2sh1q61bb2p4onbp28g.svg">
            <a:extLst>
              <a:ext uri="{FF2B5EF4-FFF2-40B4-BE49-F238E27FC236}">
                <a16:creationId xmlns:a16="http://schemas.microsoft.com/office/drawing/2014/main" id="{6319D445-74E3-C75D-FBA2-17DC49337C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7203" y="11008995"/>
            <a:ext cx="4712970" cy="863600"/>
          </a:xfrm>
          <a:prstGeom prst="rect">
            <a:avLst/>
          </a:prstGeom>
        </p:spPr>
      </p:pic>
      <p:sp>
        <p:nvSpPr>
          <p:cNvPr id="26" name="Text 1">
            <a:extLst>
              <a:ext uri="{FF2B5EF4-FFF2-40B4-BE49-F238E27FC236}">
                <a16:creationId xmlns:a16="http://schemas.microsoft.com/office/drawing/2014/main" id="{D785C4AB-8E3F-E426-C780-CEA117E0FD78}"/>
              </a:ext>
            </a:extLst>
          </p:cNvPr>
          <p:cNvSpPr/>
          <p:nvPr/>
        </p:nvSpPr>
        <p:spPr>
          <a:xfrm>
            <a:off x="4347203" y="10974808"/>
            <a:ext cx="4601210" cy="103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导师</a:t>
            </a:r>
            <a:r>
              <a:rPr 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朱正礼</a:t>
            </a:r>
            <a:endParaRPr lang="en-US" sz="16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77C59953-9634-A4B0-7F7D-E175C1420717}"/>
              </a:ext>
            </a:extLst>
          </p:cNvPr>
          <p:cNvSpPr/>
          <p:nvPr/>
        </p:nvSpPr>
        <p:spPr>
          <a:xfrm>
            <a:off x="6364232" y="2182266"/>
            <a:ext cx="11891626" cy="1173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8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</a:t>
            </a:r>
            <a:r>
              <a:rPr lang="en-US" altLang="zh-CN" sz="8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Unity</a:t>
            </a:r>
            <a:r>
              <a:rPr lang="zh-CN" altLang="en-US" sz="8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的游戏软件设计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>
            <a:extLst>
              <a:ext uri="{FF2B5EF4-FFF2-40B4-BE49-F238E27FC236}">
                <a16:creationId xmlns:a16="http://schemas.microsoft.com/office/drawing/2014/main" id="{5C8E3462-0D47-D206-0706-8DBB55DC9F84}"/>
              </a:ext>
            </a:extLst>
          </p:cNvPr>
          <p:cNvSpPr/>
          <p:nvPr/>
        </p:nvSpPr>
        <p:spPr>
          <a:xfrm>
            <a:off x="1478211" y="2335214"/>
            <a:ext cx="5482852" cy="168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94" name="Text 1">
            <a:extLst>
              <a:ext uri="{FF2B5EF4-FFF2-40B4-BE49-F238E27FC236}">
                <a16:creationId xmlns:a16="http://schemas.microsoft.com/office/drawing/2014/main" id="{ABD884B6-12DF-ADF0-4334-8113CCE35A46}"/>
              </a:ext>
            </a:extLst>
          </p:cNvPr>
          <p:cNvSpPr/>
          <p:nvPr/>
        </p:nvSpPr>
        <p:spPr>
          <a:xfrm>
            <a:off x="1478211" y="1179513"/>
            <a:ext cx="431854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95" name="Shape 2">
            <a:extLst>
              <a:ext uri="{FF2B5EF4-FFF2-40B4-BE49-F238E27FC236}">
                <a16:creationId xmlns:a16="http://schemas.microsoft.com/office/drawing/2014/main" id="{53FBB490-AD56-ACA4-ED82-51306F175E44}"/>
              </a:ext>
            </a:extLst>
          </p:cNvPr>
          <p:cNvSpPr/>
          <p:nvPr/>
        </p:nvSpPr>
        <p:spPr>
          <a:xfrm>
            <a:off x="12338069" y="2335213"/>
            <a:ext cx="1600400" cy="6083300"/>
          </a:xfrm>
          <a:prstGeom prst="ellipse">
            <a:avLst/>
          </a:prstGeom>
          <a:solidFill>
            <a:srgbClr val="ADADAD">
              <a:alpha val="10196"/>
            </a:srgbClr>
          </a:solidFill>
          <a:ln w="12700">
            <a:solidFill>
              <a:srgbClr val="ADAD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Shape 3">
            <a:extLst>
              <a:ext uri="{FF2B5EF4-FFF2-40B4-BE49-F238E27FC236}">
                <a16:creationId xmlns:a16="http://schemas.microsoft.com/office/drawing/2014/main" id="{A9268D95-2854-6DC2-54A2-C1C1DAECFD1B}"/>
              </a:ext>
            </a:extLst>
          </p:cNvPr>
          <p:cNvSpPr/>
          <p:nvPr/>
        </p:nvSpPr>
        <p:spPr>
          <a:xfrm>
            <a:off x="12338069" y="2335213"/>
            <a:ext cx="6084060" cy="60833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ADAD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Shape 4">
            <a:extLst>
              <a:ext uri="{FF2B5EF4-FFF2-40B4-BE49-F238E27FC236}">
                <a16:creationId xmlns:a16="http://schemas.microsoft.com/office/drawing/2014/main" id="{C7634184-2CC9-A66F-BF41-A88828DE1C28}"/>
              </a:ext>
            </a:extLst>
          </p:cNvPr>
          <p:cNvSpPr/>
          <p:nvPr/>
        </p:nvSpPr>
        <p:spPr>
          <a:xfrm rot="10800000">
            <a:off x="8895938" y="2335213"/>
            <a:ext cx="3442130" cy="60833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ADAD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Shape 5">
            <a:extLst>
              <a:ext uri="{FF2B5EF4-FFF2-40B4-BE49-F238E27FC236}">
                <a16:creationId xmlns:a16="http://schemas.microsoft.com/office/drawing/2014/main" id="{67525906-45CE-EDEE-3D83-A97E2C482A67}"/>
              </a:ext>
            </a:extLst>
          </p:cNvPr>
          <p:cNvSpPr/>
          <p:nvPr/>
        </p:nvSpPr>
        <p:spPr>
          <a:xfrm rot="10800000">
            <a:off x="6673161" y="2335213"/>
            <a:ext cx="5664908" cy="60833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ADAD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Shape 6">
            <a:extLst>
              <a:ext uri="{FF2B5EF4-FFF2-40B4-BE49-F238E27FC236}">
                <a16:creationId xmlns:a16="http://schemas.microsoft.com/office/drawing/2014/main" id="{0FD1EAB3-F689-DC64-B3DA-CFAAC6D13616}"/>
              </a:ext>
            </a:extLst>
          </p:cNvPr>
          <p:cNvSpPr/>
          <p:nvPr/>
        </p:nvSpPr>
        <p:spPr>
          <a:xfrm>
            <a:off x="12338070" y="2335213"/>
            <a:ext cx="4280435" cy="60833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ADAD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0" name="Image 0">
            <a:extLst>
              <a:ext uri="{FF2B5EF4-FFF2-40B4-BE49-F238E27FC236}">
                <a16:creationId xmlns:a16="http://schemas.microsoft.com/office/drawing/2014/main" id="{CD0624B7-E438-2A9F-E8EB-1334545EF8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3161" y="5378452"/>
            <a:ext cx="11748968" cy="9525"/>
          </a:xfrm>
          <a:prstGeom prst="rect">
            <a:avLst/>
          </a:prstGeom>
        </p:spPr>
      </p:pic>
      <p:sp>
        <p:nvSpPr>
          <p:cNvPr id="101" name="Shape 7">
            <a:extLst>
              <a:ext uri="{FF2B5EF4-FFF2-40B4-BE49-F238E27FC236}">
                <a16:creationId xmlns:a16="http://schemas.microsoft.com/office/drawing/2014/main" id="{DF84D75F-D07F-B489-AAC0-50877DD14D06}"/>
              </a:ext>
            </a:extLst>
          </p:cNvPr>
          <p:cNvSpPr/>
          <p:nvPr/>
        </p:nvSpPr>
        <p:spPr>
          <a:xfrm>
            <a:off x="6622355" y="5332413"/>
            <a:ext cx="101613" cy="88900"/>
          </a:xfrm>
          <a:prstGeom prst="ellipse">
            <a:avLst/>
          </a:prstGeom>
          <a:solidFill>
            <a:srgbClr val="ADADA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2" name="Shape 8">
            <a:extLst>
              <a:ext uri="{FF2B5EF4-FFF2-40B4-BE49-F238E27FC236}">
                <a16:creationId xmlns:a16="http://schemas.microsoft.com/office/drawing/2014/main" id="{3FB0572B-77B8-03A9-E0C3-06B37B307C47}"/>
              </a:ext>
            </a:extLst>
          </p:cNvPr>
          <p:cNvSpPr/>
          <p:nvPr/>
        </p:nvSpPr>
        <p:spPr>
          <a:xfrm>
            <a:off x="18371324" y="5332413"/>
            <a:ext cx="101613" cy="88900"/>
          </a:xfrm>
          <a:prstGeom prst="ellipse">
            <a:avLst/>
          </a:prstGeom>
          <a:solidFill>
            <a:srgbClr val="ADADA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3" name="Shape 9">
            <a:extLst>
              <a:ext uri="{FF2B5EF4-FFF2-40B4-BE49-F238E27FC236}">
                <a16:creationId xmlns:a16="http://schemas.microsoft.com/office/drawing/2014/main" id="{F17D756B-79E4-D975-EC69-CAFAFD058F95}"/>
              </a:ext>
            </a:extLst>
          </p:cNvPr>
          <p:cNvSpPr/>
          <p:nvPr/>
        </p:nvSpPr>
        <p:spPr>
          <a:xfrm>
            <a:off x="6825580" y="6602413"/>
            <a:ext cx="368346" cy="368300"/>
          </a:xfrm>
          <a:prstGeom prst="ellipse">
            <a:avLst/>
          </a:prstGeom>
          <a:solidFill>
            <a:srgbClr val="60678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4" name="Shape 10">
            <a:extLst>
              <a:ext uri="{FF2B5EF4-FFF2-40B4-BE49-F238E27FC236}">
                <a16:creationId xmlns:a16="http://schemas.microsoft.com/office/drawing/2014/main" id="{A639A030-82BB-3A78-F6B2-4029A6044F12}"/>
              </a:ext>
            </a:extLst>
          </p:cNvPr>
          <p:cNvSpPr/>
          <p:nvPr/>
        </p:nvSpPr>
        <p:spPr>
          <a:xfrm>
            <a:off x="13671735" y="3960813"/>
            <a:ext cx="368346" cy="368300"/>
          </a:xfrm>
          <a:prstGeom prst="ellipse">
            <a:avLst/>
          </a:prstGeom>
          <a:solidFill>
            <a:srgbClr val="60678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5" name="Text 11">
            <a:extLst>
              <a:ext uri="{FF2B5EF4-FFF2-40B4-BE49-F238E27FC236}">
                <a16:creationId xmlns:a16="http://schemas.microsoft.com/office/drawing/2014/main" id="{D6B02C57-D2F2-3B2D-9767-73E7DEB198EB}"/>
              </a:ext>
            </a:extLst>
          </p:cNvPr>
          <p:cNvSpPr/>
          <p:nvPr/>
        </p:nvSpPr>
        <p:spPr>
          <a:xfrm>
            <a:off x="1757646" y="9637713"/>
            <a:ext cx="9234054" cy="2895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6" name="Image 1">
            <a:extLst>
              <a:ext uri="{FF2B5EF4-FFF2-40B4-BE49-F238E27FC236}">
                <a16:creationId xmlns:a16="http://schemas.microsoft.com/office/drawing/2014/main" id="{FFFC528E-883F-4A06-DDD2-8451F0E23A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57646" y="9634538"/>
            <a:ext cx="9234054" cy="6350"/>
          </a:xfrm>
          <a:prstGeom prst="rect">
            <a:avLst/>
          </a:prstGeom>
        </p:spPr>
      </p:pic>
      <p:pic>
        <p:nvPicPr>
          <p:cNvPr id="107" name="Image 2">
            <a:extLst>
              <a:ext uri="{FF2B5EF4-FFF2-40B4-BE49-F238E27FC236}">
                <a16:creationId xmlns:a16="http://schemas.microsoft.com/office/drawing/2014/main" id="{115433F0-EA25-DF51-4054-793B703266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57646" y="10599738"/>
            <a:ext cx="9234054" cy="6350"/>
          </a:xfrm>
          <a:prstGeom prst="rect">
            <a:avLst/>
          </a:prstGeom>
        </p:spPr>
      </p:pic>
      <p:pic>
        <p:nvPicPr>
          <p:cNvPr id="108" name="Image 3">
            <a:extLst>
              <a:ext uri="{FF2B5EF4-FFF2-40B4-BE49-F238E27FC236}">
                <a16:creationId xmlns:a16="http://schemas.microsoft.com/office/drawing/2014/main" id="{83708776-89B8-498B-FA0D-5F457517F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57646" y="11564938"/>
            <a:ext cx="9234054" cy="6350"/>
          </a:xfrm>
          <a:prstGeom prst="rect">
            <a:avLst/>
          </a:prstGeom>
        </p:spPr>
      </p:pic>
      <p:pic>
        <p:nvPicPr>
          <p:cNvPr id="109" name="Image 4">
            <a:extLst>
              <a:ext uri="{FF2B5EF4-FFF2-40B4-BE49-F238E27FC236}">
                <a16:creationId xmlns:a16="http://schemas.microsoft.com/office/drawing/2014/main" id="{8842B320-3799-F808-D671-C22B6D528D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57646" y="12530138"/>
            <a:ext cx="9234054" cy="6350"/>
          </a:xfrm>
          <a:prstGeom prst="rect">
            <a:avLst/>
          </a:prstGeom>
        </p:spPr>
      </p:pic>
      <p:sp>
        <p:nvSpPr>
          <p:cNvPr id="110" name="Text 12">
            <a:extLst>
              <a:ext uri="{FF2B5EF4-FFF2-40B4-BE49-F238E27FC236}">
                <a16:creationId xmlns:a16="http://schemas.microsoft.com/office/drawing/2014/main" id="{8FBE5806-41B0-58B3-7BC8-2CA16EE6DE7A}"/>
              </a:ext>
            </a:extLst>
          </p:cNvPr>
          <p:cNvSpPr/>
          <p:nvPr/>
        </p:nvSpPr>
        <p:spPr>
          <a:xfrm>
            <a:off x="13671735" y="9637713"/>
            <a:ext cx="9234054" cy="1930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1" name="Image 5">
            <a:extLst>
              <a:ext uri="{FF2B5EF4-FFF2-40B4-BE49-F238E27FC236}">
                <a16:creationId xmlns:a16="http://schemas.microsoft.com/office/drawing/2014/main" id="{70B07E0D-FC52-373E-3BB2-E9F40E7BA9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71735" y="9634538"/>
            <a:ext cx="9234054" cy="6350"/>
          </a:xfrm>
          <a:prstGeom prst="rect">
            <a:avLst/>
          </a:prstGeom>
        </p:spPr>
      </p:pic>
      <p:pic>
        <p:nvPicPr>
          <p:cNvPr id="112" name="Image 6">
            <a:extLst>
              <a:ext uri="{FF2B5EF4-FFF2-40B4-BE49-F238E27FC236}">
                <a16:creationId xmlns:a16="http://schemas.microsoft.com/office/drawing/2014/main" id="{F4FC14C8-F451-9AE6-9618-87386824D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71735" y="10599738"/>
            <a:ext cx="9234054" cy="6350"/>
          </a:xfrm>
          <a:prstGeom prst="rect">
            <a:avLst/>
          </a:prstGeom>
        </p:spPr>
      </p:pic>
      <p:pic>
        <p:nvPicPr>
          <p:cNvPr id="113" name="Image 7">
            <a:extLst>
              <a:ext uri="{FF2B5EF4-FFF2-40B4-BE49-F238E27FC236}">
                <a16:creationId xmlns:a16="http://schemas.microsoft.com/office/drawing/2014/main" id="{CDDA8841-EE77-0872-1A99-E4C118E31C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71735" y="11564938"/>
            <a:ext cx="9234054" cy="6350"/>
          </a:xfrm>
          <a:prstGeom prst="rect">
            <a:avLst/>
          </a:prstGeom>
        </p:spPr>
      </p:pic>
      <p:sp>
        <p:nvSpPr>
          <p:cNvPr id="114" name="Text 13">
            <a:extLst>
              <a:ext uri="{FF2B5EF4-FFF2-40B4-BE49-F238E27FC236}">
                <a16:creationId xmlns:a16="http://schemas.microsoft.com/office/drawing/2014/main" id="{7029CEE5-08DA-4B2E-5F60-6D4977F2CA69}"/>
              </a:ext>
            </a:extLst>
          </p:cNvPr>
          <p:cNvSpPr/>
          <p:nvPr/>
        </p:nvSpPr>
        <p:spPr>
          <a:xfrm>
            <a:off x="8641908" y="9815513"/>
            <a:ext cx="224818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15" name="Text 14">
            <a:extLst>
              <a:ext uri="{FF2B5EF4-FFF2-40B4-BE49-F238E27FC236}">
                <a16:creationId xmlns:a16="http://schemas.microsoft.com/office/drawing/2014/main" id="{D6E4C721-0D52-A215-25A6-D6FF0840916D}"/>
              </a:ext>
            </a:extLst>
          </p:cNvPr>
          <p:cNvSpPr/>
          <p:nvPr/>
        </p:nvSpPr>
        <p:spPr>
          <a:xfrm>
            <a:off x="1757646" y="9815513"/>
            <a:ext cx="688426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核心问题与项目定位</a:t>
            </a:r>
            <a:endParaRPr lang="en-US" sz="1600" dirty="0"/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22AA5556-E926-D0BC-6231-528E9394930E}"/>
              </a:ext>
            </a:extLst>
          </p:cNvPr>
          <p:cNvSpPr/>
          <p:nvPr/>
        </p:nvSpPr>
        <p:spPr>
          <a:xfrm>
            <a:off x="8641908" y="10780713"/>
            <a:ext cx="224818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17" name="Text 16">
            <a:extLst>
              <a:ext uri="{FF2B5EF4-FFF2-40B4-BE49-F238E27FC236}">
                <a16:creationId xmlns:a16="http://schemas.microsoft.com/office/drawing/2014/main" id="{CD378251-A7B2-776F-A754-10DFCD8080BE}"/>
              </a:ext>
            </a:extLst>
          </p:cNvPr>
          <p:cNvSpPr/>
          <p:nvPr/>
        </p:nvSpPr>
        <p:spPr>
          <a:xfrm>
            <a:off x="1757647" y="10780713"/>
            <a:ext cx="688426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技术矛盾与解决路线</a:t>
            </a:r>
            <a:endParaRPr lang="en-US" sz="1600" dirty="0"/>
          </a:p>
        </p:txBody>
      </p:sp>
      <p:sp>
        <p:nvSpPr>
          <p:cNvPr id="118" name="Text 17">
            <a:extLst>
              <a:ext uri="{FF2B5EF4-FFF2-40B4-BE49-F238E27FC236}">
                <a16:creationId xmlns:a16="http://schemas.microsoft.com/office/drawing/2014/main" id="{509E2F6A-C061-B663-78C1-42B77B29BA83}"/>
              </a:ext>
            </a:extLst>
          </p:cNvPr>
          <p:cNvSpPr/>
          <p:nvPr/>
        </p:nvSpPr>
        <p:spPr>
          <a:xfrm>
            <a:off x="8641908" y="11745913"/>
            <a:ext cx="224818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19" name="Text 18">
            <a:extLst>
              <a:ext uri="{FF2B5EF4-FFF2-40B4-BE49-F238E27FC236}">
                <a16:creationId xmlns:a16="http://schemas.microsoft.com/office/drawing/2014/main" id="{F00C6592-6DA4-D6BB-5AF4-623DDEE62D0C}"/>
              </a:ext>
            </a:extLst>
          </p:cNvPr>
          <p:cNvSpPr/>
          <p:nvPr/>
        </p:nvSpPr>
        <p:spPr>
          <a:xfrm>
            <a:off x="1757646" y="11745913"/>
            <a:ext cx="688426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系统架构与核心模块</a:t>
            </a:r>
            <a:endParaRPr lang="en-US" sz="1600" dirty="0"/>
          </a:p>
        </p:txBody>
      </p:sp>
      <p:sp>
        <p:nvSpPr>
          <p:cNvPr id="120" name="Text 19">
            <a:extLst>
              <a:ext uri="{FF2B5EF4-FFF2-40B4-BE49-F238E27FC236}">
                <a16:creationId xmlns:a16="http://schemas.microsoft.com/office/drawing/2014/main" id="{F390E39F-E4B3-EF09-4971-F698AE774B8A}"/>
              </a:ext>
            </a:extLst>
          </p:cNvPr>
          <p:cNvSpPr/>
          <p:nvPr/>
        </p:nvSpPr>
        <p:spPr>
          <a:xfrm>
            <a:off x="20555997" y="9815513"/>
            <a:ext cx="224818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21" name="Text 20">
            <a:extLst>
              <a:ext uri="{FF2B5EF4-FFF2-40B4-BE49-F238E27FC236}">
                <a16:creationId xmlns:a16="http://schemas.microsoft.com/office/drawing/2014/main" id="{F4FAD189-21B8-30CD-C3BD-115569FAA2F1}"/>
              </a:ext>
            </a:extLst>
          </p:cNvPr>
          <p:cNvSpPr/>
          <p:nvPr/>
        </p:nvSpPr>
        <p:spPr>
          <a:xfrm>
            <a:off x="13671736" y="9815513"/>
            <a:ext cx="685885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渔闻系统与玩法验证</a:t>
            </a:r>
            <a:endParaRPr lang="en-US" sz="1600" dirty="0"/>
          </a:p>
        </p:txBody>
      </p:sp>
      <p:sp>
        <p:nvSpPr>
          <p:cNvPr id="122" name="Text 21">
            <a:extLst>
              <a:ext uri="{FF2B5EF4-FFF2-40B4-BE49-F238E27FC236}">
                <a16:creationId xmlns:a16="http://schemas.microsoft.com/office/drawing/2014/main" id="{4163F1FA-DCCF-436B-F689-438B9703ABF2}"/>
              </a:ext>
            </a:extLst>
          </p:cNvPr>
          <p:cNvSpPr/>
          <p:nvPr/>
        </p:nvSpPr>
        <p:spPr>
          <a:xfrm>
            <a:off x="20555997" y="10780713"/>
            <a:ext cx="224818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123" name="Text 22">
            <a:extLst>
              <a:ext uri="{FF2B5EF4-FFF2-40B4-BE49-F238E27FC236}">
                <a16:creationId xmlns:a16="http://schemas.microsoft.com/office/drawing/2014/main" id="{70614CE1-CEAD-5690-0D8E-853CF0F289CE}"/>
              </a:ext>
            </a:extLst>
          </p:cNvPr>
          <p:cNvSpPr/>
          <p:nvPr/>
        </p:nvSpPr>
        <p:spPr>
          <a:xfrm>
            <a:off x="13671736" y="10780713"/>
            <a:ext cx="685885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扩展性与创新总结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24-d2sh1t61bb2p4onbp3m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" y="0"/>
            <a:ext cx="24387048" cy="13716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2:09:16-d2sh1r61bb2p4onbp2q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4198" y="4182745"/>
            <a:ext cx="2235479" cy="2235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56666" y="8736966"/>
            <a:ext cx="11257840" cy="123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核心问题与项目定位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624193" y="7133590"/>
            <a:ext cx="11190099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09-04-12:09:16-d2sh1r61bb2p4onbp2q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2185" y="10608945"/>
            <a:ext cx="5633154" cy="2540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4-12:09:16-d2sh1r61bb2p4onbp2r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79236" y="0"/>
            <a:ext cx="25403" cy="43561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1091132" y="4182745"/>
            <a:ext cx="2231246" cy="2235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9" name="Image 4" descr="https://kimi-img.moonshot.cn/pub/slides/slides_tmpl/image/25-09-04-12:09:16-d2sh1r61bb2p4onbp2r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4928" y="2011045"/>
            <a:ext cx="6566721" cy="656590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11086899" y="4182745"/>
            <a:ext cx="2222778" cy="2222500"/>
          </a:xfrm>
          <a:prstGeom prst="ellipse">
            <a:avLst/>
          </a:prstGeom>
          <a:solidFill>
            <a:srgbClr val="000000">
              <a:alpha val="0"/>
            </a:srgbClr>
          </a:solidFill>
          <a:ln w="127000">
            <a:solidFill>
              <a:srgbClr val="2C617B">
                <a:alpha val="60000"/>
              </a:srgbClr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963734" y="-5765800"/>
            <a:ext cx="22469108" cy="224663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171824"/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27-d2sh1tu1bb2p4onbp4b0.jp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41556" y="457200"/>
            <a:ext cx="10605826" cy="125095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2:09:24-d2sh1t61bb2p4onbp3q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1937" y="457200"/>
            <a:ext cx="11298258" cy="12509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2:09:24-d2sh1t61bb2p4onbp3p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46569" y="12350801"/>
            <a:ext cx="317540" cy="952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2:09:24-d2sh1t61bb2p4onbp3p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05388" y="12192000"/>
            <a:ext cx="9526" cy="3175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14222627" y="4572000"/>
            <a:ext cx="7092777" cy="1235676"/>
          </a:xfrm>
          <a:prstGeom prst="roundRect">
            <a:avLst>
              <a:gd name="adj" fmla="val 29359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4" descr="https://kimi-img.moonshot.cn/pub/slides/slides_tmpl/image/25-09-04-12:09:24-d2sh1t61bb2p4onbp3r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41331" y="11774488"/>
            <a:ext cx="4147068" cy="952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4-12:09:24-d2sh1t61bb2p4onbp3p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778210" y="12350801"/>
            <a:ext cx="317540" cy="9525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4-12:09:24-d2sh1t61bb2p4onbp3p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37030" y="12192000"/>
            <a:ext cx="9526" cy="31750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4-12:09:24-d2sh1t61bb2p4onbp3r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72972" y="11774488"/>
            <a:ext cx="4147068" cy="9525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1903650" y="1219201"/>
            <a:ext cx="8352458" cy="1337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核心问题</a:t>
            </a:r>
            <a:endParaRPr lang="en-US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4" name="Text 3"/>
          <p:cNvSpPr/>
          <p:nvPr/>
        </p:nvSpPr>
        <p:spPr>
          <a:xfrm>
            <a:off x="15960365" y="4961009"/>
            <a:ext cx="3761402" cy="105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传统NPC系统的局限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Text 4"/>
          <p:cNvSpPr/>
          <p:nvPr/>
        </p:nvSpPr>
        <p:spPr>
          <a:xfrm>
            <a:off x="13027830" y="6540501"/>
            <a:ext cx="9807457" cy="4944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4000" dirty="0">
                <a:solidFill>
                  <a:srgbClr val="ADAD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传统 </a:t>
            </a:r>
            <a:r>
              <a:rPr lang="en-US" altLang="zh-CN" sz="4000" dirty="0">
                <a:solidFill>
                  <a:srgbClr val="ADAD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NPC </a:t>
            </a:r>
            <a:r>
              <a:rPr lang="zh-CN" altLang="en-US" sz="4000" dirty="0">
                <a:solidFill>
                  <a:srgbClr val="ADAD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稳定但固定，</a:t>
            </a:r>
            <a:r>
              <a:rPr lang="en-US" altLang="zh-CN" sz="4000" dirty="0">
                <a:solidFill>
                  <a:srgbClr val="ADAD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AI </a:t>
            </a:r>
            <a:r>
              <a:rPr lang="zh-CN" altLang="en-US" sz="4000" dirty="0">
                <a:solidFill>
                  <a:srgbClr val="ADAD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对话自然但难以直接参与玩法。</a:t>
            </a:r>
            <a:endParaRPr lang="en-US" altLang="zh-CN" sz="4000" dirty="0">
              <a:solidFill>
                <a:srgbClr val="ADADA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endParaRPr lang="en-US" sz="4000" dirty="0">
              <a:solidFill>
                <a:srgbClr val="ADADA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r>
              <a:rPr lang="zh-CN" altLang="en-US" sz="4000" dirty="0">
                <a:solidFill>
                  <a:srgbClr val="ADAD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接入大模型能够提升 </a:t>
            </a:r>
            <a:r>
              <a:rPr lang="en-US" altLang="zh-CN" sz="4000" dirty="0">
                <a:solidFill>
                  <a:srgbClr val="ADAD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NPC </a:t>
            </a:r>
            <a:r>
              <a:rPr lang="zh-CN" altLang="en-US" sz="4000" dirty="0">
                <a:solidFill>
                  <a:srgbClr val="ADAD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对话的自然度，但它仍然只停留在聊天展示层。</a:t>
            </a:r>
            <a:endParaRPr lang="en-US" sz="4000" dirty="0">
              <a:solidFill>
                <a:srgbClr val="ADADA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81687-BCF6-59FC-EF18-3CEC64493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27-d2sh1tu1bb2p4onbp4b0.jpg">
            <a:extLst>
              <a:ext uri="{FF2B5EF4-FFF2-40B4-BE49-F238E27FC236}">
                <a16:creationId xmlns:a16="http://schemas.microsoft.com/office/drawing/2014/main" id="{6CC2828C-E0B8-4D81-53CD-2E0FCE2DCDE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41556" y="457200"/>
            <a:ext cx="10605826" cy="125095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2:09:24-d2sh1t61bb2p4onbp3p0.svg">
            <a:extLst>
              <a:ext uri="{FF2B5EF4-FFF2-40B4-BE49-F238E27FC236}">
                <a16:creationId xmlns:a16="http://schemas.microsoft.com/office/drawing/2014/main" id="{FAFEE7AE-3001-2E5B-CBF3-9CB44FFA83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46569" y="12350801"/>
            <a:ext cx="317540" cy="952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2:09:24-d2sh1t61bb2p4onbp3pg.svg">
            <a:extLst>
              <a:ext uri="{FF2B5EF4-FFF2-40B4-BE49-F238E27FC236}">
                <a16:creationId xmlns:a16="http://schemas.microsoft.com/office/drawing/2014/main" id="{D3FFA418-CB8B-3768-DF08-D7F54903D9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05388" y="12192000"/>
            <a:ext cx="9526" cy="31750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4-12:09:24-d2sh1t61bb2p4onbp3r0.svg">
            <a:extLst>
              <a:ext uri="{FF2B5EF4-FFF2-40B4-BE49-F238E27FC236}">
                <a16:creationId xmlns:a16="http://schemas.microsoft.com/office/drawing/2014/main" id="{504D106A-27D9-D393-8F0A-53D2339099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941331" y="11774488"/>
            <a:ext cx="4147068" cy="952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4-12:09:24-d2sh1t61bb2p4onbp3rg.svg">
            <a:extLst>
              <a:ext uri="{FF2B5EF4-FFF2-40B4-BE49-F238E27FC236}">
                <a16:creationId xmlns:a16="http://schemas.microsoft.com/office/drawing/2014/main" id="{3BFC3364-4382-05B5-24E5-E94394E8F2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92000" y="457200"/>
            <a:ext cx="11583784" cy="12509500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4-12:09:24-d2sh1t61bb2p4onbp3p0.svg">
            <a:extLst>
              <a:ext uri="{FF2B5EF4-FFF2-40B4-BE49-F238E27FC236}">
                <a16:creationId xmlns:a16="http://schemas.microsoft.com/office/drawing/2014/main" id="{912CABB2-B7DF-57C7-3373-92BC63DC2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78210" y="12350801"/>
            <a:ext cx="317540" cy="9525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4-12:09:24-d2sh1t61bb2p4onbp3pg.svg">
            <a:extLst>
              <a:ext uri="{FF2B5EF4-FFF2-40B4-BE49-F238E27FC236}">
                <a16:creationId xmlns:a16="http://schemas.microsoft.com/office/drawing/2014/main" id="{2E851772-B60C-20D4-A06B-750D0DA5ED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937030" y="12192000"/>
            <a:ext cx="9526" cy="31750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4-12:09:24-d2sh1t61bb2p4onbp3r0.svg">
            <a:extLst>
              <a:ext uri="{FF2B5EF4-FFF2-40B4-BE49-F238E27FC236}">
                <a16:creationId xmlns:a16="http://schemas.microsoft.com/office/drawing/2014/main" id="{C2351B71-5591-84D7-01B4-7963192340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72972" y="11774488"/>
            <a:ext cx="4147068" cy="9525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55AAE100-E087-FF5F-481D-E7B719358D7A}"/>
              </a:ext>
            </a:extLst>
          </p:cNvPr>
          <p:cNvSpPr/>
          <p:nvPr/>
        </p:nvSpPr>
        <p:spPr>
          <a:xfrm>
            <a:off x="1903650" y="1219201"/>
            <a:ext cx="8352458" cy="1337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项目定位</a:t>
            </a:r>
            <a:endParaRPr lang="en-US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37206A2E-15A1-275F-0A54-8465EC821105}"/>
              </a:ext>
            </a:extLst>
          </p:cNvPr>
          <p:cNvSpPr/>
          <p:nvPr/>
        </p:nvSpPr>
        <p:spPr>
          <a:xfrm>
            <a:off x="12789243" y="6540501"/>
            <a:ext cx="10368399" cy="4944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40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本项目</a:t>
            </a:r>
            <a:r>
              <a:rPr lang="en-US" sz="4000" b="1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核心命题</a:t>
            </a:r>
            <a:r>
              <a:rPr lang="en-US" sz="40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</a:t>
            </a:r>
            <a:r>
              <a:rPr lang="zh-CN" altLang="en-US" sz="40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：如何让 </a:t>
            </a:r>
            <a:r>
              <a:rPr lang="en-US" altLang="zh-CN" sz="40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NPC </a:t>
            </a:r>
            <a:r>
              <a:rPr lang="zh-CN" altLang="en-US" sz="40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生成内容从“聊天文本”转化为可识别、可执行、可验证的游戏事件。</a:t>
            </a:r>
            <a:endParaRPr lang="en-US" sz="40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EAAACEA5-6707-992F-1291-535C9E88FF7C}"/>
              </a:ext>
            </a:extLst>
          </p:cNvPr>
          <p:cNvSpPr/>
          <p:nvPr/>
        </p:nvSpPr>
        <p:spPr>
          <a:xfrm>
            <a:off x="14222627" y="4572000"/>
            <a:ext cx="7092777" cy="1235676"/>
          </a:xfrm>
          <a:prstGeom prst="roundRect">
            <a:avLst>
              <a:gd name="adj" fmla="val 29359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9ECC43DB-EA1D-60F1-DDC9-B2B419B1FECB}"/>
              </a:ext>
            </a:extLst>
          </p:cNvPr>
          <p:cNvSpPr/>
          <p:nvPr/>
        </p:nvSpPr>
        <p:spPr>
          <a:xfrm>
            <a:off x="15463868" y="4970757"/>
            <a:ext cx="4610294" cy="105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从聊天层到玩法层的跨越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4916699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28-d2sh1u61bb2p4onbp4h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1473" y="5156200"/>
            <a:ext cx="12702" cy="2387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9619" y="7543800"/>
            <a:ext cx="851006" cy="8509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DFDF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2005265" y="4978400"/>
            <a:ext cx="152419" cy="152400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1" descr="https://kimi-img.moonshot.cn/pub/slides/slides_tmpl/image/25-09-04-12:09:28-d2sh1u61bb2p4onbp4i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587" y="6769101"/>
            <a:ext cx="24387048" cy="952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2:09:28-d2sh1u61bb2p4onbp4h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4362" y="5156200"/>
            <a:ext cx="12702" cy="238760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4-12:09:28-d2sh1u61bb2p4onbp4h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07251" y="5156200"/>
            <a:ext cx="12702" cy="23876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762508" y="7543800"/>
            <a:ext cx="851006" cy="8509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DFDF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3"/>
          <p:cNvSpPr/>
          <p:nvPr/>
        </p:nvSpPr>
        <p:spPr>
          <a:xfrm>
            <a:off x="15875397" y="7543800"/>
            <a:ext cx="851006" cy="8509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DFDF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4"/>
          <p:cNvSpPr/>
          <p:nvPr/>
        </p:nvSpPr>
        <p:spPr>
          <a:xfrm>
            <a:off x="1497200" y="1473201"/>
            <a:ext cx="11582192" cy="123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</a:t>
            </a:r>
            <a:r>
              <a:rPr lang="en-US" sz="6400" dirty="0" err="1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动态事件闭环的</a:t>
            </a:r>
            <a:r>
              <a:rPr lang="zh-CN" altLang="en-US" sz="64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</a:t>
            </a:r>
            <a:r>
              <a:rPr lang="en-US" sz="6400" dirty="0" err="1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大流程节点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9118154" y="4978400"/>
            <a:ext cx="152419" cy="152400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6"/>
          <p:cNvSpPr/>
          <p:nvPr/>
        </p:nvSpPr>
        <p:spPr>
          <a:xfrm>
            <a:off x="16231043" y="4978400"/>
            <a:ext cx="152419" cy="152400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7"/>
          <p:cNvSpPr/>
          <p:nvPr/>
        </p:nvSpPr>
        <p:spPr>
          <a:xfrm>
            <a:off x="1852845" y="7634287"/>
            <a:ext cx="44455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954457" y="3911600"/>
            <a:ext cx="60840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AI生成候选线索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2830867" y="7531101"/>
            <a:ext cx="5046764" cy="350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AI生成带有地点、目标、时间窗口和可信度的候选线索，为玩家提供动态信息来源。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914927" y="7634287"/>
            <a:ext cx="546168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067346" y="3911600"/>
            <a:ext cx="60840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本地校验与玩家采信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9943756" y="7531101"/>
            <a:ext cx="5046764" cy="350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本地系统对候选内容解析校验并注册，玩家主动采信后进入真实玩法验证。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6015116" y="7634287"/>
            <a:ext cx="571571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6180235" y="3911600"/>
            <a:ext cx="60840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玩法验证与世界反馈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7056645" y="7531101"/>
            <a:ext cx="5046764" cy="350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Unity根据钓鱼结果验证事件真伪，公告板将结果反馈为世界信息，形成完整闭环。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24-d2sh1t61bb2p4onbp3m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87" y="0"/>
            <a:ext cx="24387048" cy="13716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2:09:16-d2sh1r61bb2p4onbp2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4198" y="4182745"/>
            <a:ext cx="2235479" cy="2235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56666" y="8736966"/>
            <a:ext cx="11257840" cy="123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技术矛盾与解决路线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624193" y="7133590"/>
            <a:ext cx="11190099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09-04-12:09:16-d2sh1r61bb2p4onbp2q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2185" y="10608945"/>
            <a:ext cx="5633154" cy="2540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4-12:09:16-d2sh1r61bb2p4onbp2r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79236" y="0"/>
            <a:ext cx="25403" cy="43561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1091132" y="4182745"/>
            <a:ext cx="2231246" cy="2235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9" name="Image 4" descr="https://kimi-img.moonshot.cn/pub/slides/slides_tmpl/image/25-09-04-12:09:16-d2sh1r61bb2p4onbp2r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4928" y="2011045"/>
            <a:ext cx="6566721" cy="656590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11086899" y="4182745"/>
            <a:ext cx="2222778" cy="2222500"/>
          </a:xfrm>
          <a:prstGeom prst="ellipse">
            <a:avLst/>
          </a:prstGeom>
          <a:solidFill>
            <a:srgbClr val="000000">
              <a:alpha val="0"/>
            </a:srgbClr>
          </a:solidFill>
          <a:ln w="127000">
            <a:solidFill>
              <a:srgbClr val="2C617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4"/>
          <p:cNvSpPr/>
          <p:nvPr/>
        </p:nvSpPr>
        <p:spPr>
          <a:xfrm>
            <a:off x="963734" y="-5765800"/>
            <a:ext cx="22469108" cy="224663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1718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kimi-img.moonshot.cn/pub/slides/slides_tmpl/image/25-09-04-12:09:28-d2sh1u61bb2p4onbp4i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372" y="457200"/>
            <a:ext cx="5652206" cy="12509500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4-12:09:24-d2sh1t61bb2p4onbp3p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3004" y="12350801"/>
            <a:ext cx="317540" cy="952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4-12:09:24-d2sh1t61bb2p4onbp3p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1823" y="12192000"/>
            <a:ext cx="9526" cy="3175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192363" y="4178300"/>
            <a:ext cx="4216927" cy="1308100"/>
          </a:xfrm>
          <a:prstGeom prst="roundRect">
            <a:avLst>
              <a:gd name="adj" fmla="val 29359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3" descr="https://kimi-img.moonshot.cn/pub/slides/slides_tmpl/image/25-09-04-12:09:24-d2sh1t61bb2p4onbp3r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7765" y="11774488"/>
            <a:ext cx="4147068" cy="9525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4-12:09:28-d2sh1u61bb2p4onbp4j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0013" y="457200"/>
            <a:ext cx="5652206" cy="1250950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4-12:09:29-d2sh1ue1bb2p4onbp4k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54645" y="12350804"/>
            <a:ext cx="317540" cy="9525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4-12:09:29-d2sh1ue1bb2p4onbp4k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13464" y="12192003"/>
            <a:ext cx="9526" cy="317500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7124005" y="8890003"/>
            <a:ext cx="4216927" cy="1308100"/>
          </a:xfrm>
          <a:prstGeom prst="roundRect">
            <a:avLst>
              <a:gd name="adj" fmla="val 29359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7" descr="https://kimi-img.moonshot.cn/pub/slides/slides_tmpl/image/25-09-04-12:09:29-d2sh1ue1bb2p4onbp4l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49407" y="11774492"/>
            <a:ext cx="4147068" cy="9525"/>
          </a:xfrm>
          <a:prstGeom prst="rect">
            <a:avLst/>
          </a:prstGeom>
        </p:spPr>
      </p:pic>
      <p:pic>
        <p:nvPicPr>
          <p:cNvPr id="13" name="Image 8" descr="https://kimi-img.moonshot.cn/pub/slides/slides_tmpl/image/25-09-04-12:09:29-d2sh1ue1bb2p4onbp4l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331654" y="457200"/>
            <a:ext cx="5652206" cy="12509500"/>
          </a:xfrm>
          <a:prstGeom prst="rect">
            <a:avLst/>
          </a:prstGeom>
        </p:spPr>
      </p:pic>
      <p:pic>
        <p:nvPicPr>
          <p:cNvPr id="14" name="Image 9" descr="https://kimi-img.moonshot.cn/pub/slides/slides_tmpl/image/25-09-04-12:09:24-d2sh1t61bb2p4onbp3p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86286" y="12350801"/>
            <a:ext cx="317540" cy="9525"/>
          </a:xfrm>
          <a:prstGeom prst="rect">
            <a:avLst/>
          </a:prstGeom>
        </p:spPr>
      </p:pic>
      <p:pic>
        <p:nvPicPr>
          <p:cNvPr id="15" name="Image 10" descr="https://kimi-img.moonshot.cn/pub/slides/slides_tmpl/image/25-09-04-12:09:24-d2sh1t61bb2p4onbp3p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45106" y="12192000"/>
            <a:ext cx="9526" cy="317500"/>
          </a:xfrm>
          <a:prstGeom prst="rect">
            <a:avLst/>
          </a:prstGeom>
        </p:spPr>
      </p:pic>
      <p:sp>
        <p:nvSpPr>
          <p:cNvPr id="16" name="Shape 3"/>
          <p:cNvSpPr/>
          <p:nvPr/>
        </p:nvSpPr>
        <p:spPr>
          <a:xfrm>
            <a:off x="13055646" y="4178300"/>
            <a:ext cx="4216927" cy="1308100"/>
          </a:xfrm>
          <a:prstGeom prst="roundRect">
            <a:avLst>
              <a:gd name="adj" fmla="val 29359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1" descr="https://kimi-img.moonshot.cn/pub/slides/slides_tmpl/image/25-09-04-12:09:24-d2sh1t61bb2p4onbp3r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81048" y="11774488"/>
            <a:ext cx="4147068" cy="9525"/>
          </a:xfrm>
          <a:prstGeom prst="rect">
            <a:avLst/>
          </a:prstGeom>
        </p:spPr>
      </p:pic>
      <p:pic>
        <p:nvPicPr>
          <p:cNvPr id="18" name="Image 12" descr="https://kimi-img.moonshot.cn/pub/slides/slides_tmpl/image/25-09-04-12:09:29-d2sh1ue1bb2p4onbp4m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263296" y="457200"/>
            <a:ext cx="5652206" cy="12509500"/>
          </a:xfrm>
          <a:prstGeom prst="rect">
            <a:avLst/>
          </a:prstGeom>
        </p:spPr>
      </p:pic>
      <p:pic>
        <p:nvPicPr>
          <p:cNvPr id="19" name="Image 13" descr="https://kimi-img.moonshot.cn/pub/slides/slides_tmpl/image/25-09-04-12:09:24-d2sh1t61bb2p4onbp3p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17928" y="12350801"/>
            <a:ext cx="317540" cy="9525"/>
          </a:xfrm>
          <a:prstGeom prst="rect">
            <a:avLst/>
          </a:prstGeom>
        </p:spPr>
      </p:pic>
      <p:pic>
        <p:nvPicPr>
          <p:cNvPr id="20" name="Image 14" descr="https://kimi-img.moonshot.cn/pub/slides/slides_tmpl/image/25-09-04-12:09:24-d2sh1t61bb2p4onbp3p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076747" y="12192000"/>
            <a:ext cx="9526" cy="317500"/>
          </a:xfrm>
          <a:prstGeom prst="rect">
            <a:avLst/>
          </a:prstGeom>
        </p:spPr>
      </p:pic>
      <p:sp>
        <p:nvSpPr>
          <p:cNvPr id="21" name="Shape 4"/>
          <p:cNvSpPr/>
          <p:nvPr/>
        </p:nvSpPr>
        <p:spPr>
          <a:xfrm>
            <a:off x="18987287" y="8890000"/>
            <a:ext cx="4216927" cy="1308100"/>
          </a:xfrm>
          <a:prstGeom prst="roundRect">
            <a:avLst>
              <a:gd name="adj" fmla="val 29359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15" descr="https://kimi-img.moonshot.cn/pub/slides/slides_tmpl/image/25-09-04-12:09:24-d2sh1t61bb2p4onbp3r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012689" y="11774488"/>
            <a:ext cx="4147068" cy="9525"/>
          </a:xfrm>
          <a:prstGeom prst="rect">
            <a:avLst/>
          </a:prstGeom>
        </p:spPr>
      </p:pic>
      <p:sp>
        <p:nvSpPr>
          <p:cNvPr id="23" name="Text 5"/>
          <p:cNvSpPr/>
          <p:nvPr/>
        </p:nvSpPr>
        <p:spPr>
          <a:xfrm>
            <a:off x="1634801" y="4639733"/>
            <a:ext cx="3293945" cy="105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自由发挥风险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Text 6"/>
          <p:cNvSpPr/>
          <p:nvPr/>
        </p:nvSpPr>
        <p:spPr>
          <a:xfrm>
            <a:off x="1217766" y="6540501"/>
            <a:ext cx="4284669" cy="4944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可能生成本地世界中不存在的地点、目标或事件。</a:t>
            </a:r>
            <a:endParaRPr lang="en-US" altLang="zh-CN" sz="2800" dirty="0"/>
          </a:p>
          <a:p>
            <a:pPr algn="just">
              <a:lnSpc>
                <a:spcPct val="100000"/>
              </a:lnSpc>
            </a:pP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通过本地世界数据限制生成范围。</a:t>
            </a:r>
            <a:endParaRPr lang="en-US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5" name="Text 7"/>
          <p:cNvSpPr/>
          <p:nvPr/>
        </p:nvSpPr>
        <p:spPr>
          <a:xfrm>
            <a:off x="13517137" y="4585663"/>
            <a:ext cx="3293945" cy="105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自然语言解析难题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6" name="Text 8"/>
          <p:cNvSpPr/>
          <p:nvPr/>
        </p:nvSpPr>
        <p:spPr>
          <a:xfrm>
            <a:off x="13081049" y="6540501"/>
            <a:ext cx="4284669" cy="4944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输出如果停留在自然语言层，难以直接驱动游戏逻辑。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endParaRPr lang="en-US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/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后端要求生成结构化事件字段，供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Unity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稳定解析。</a:t>
            </a:r>
            <a:endParaRPr lang="en-US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7" name="Text 9"/>
          <p:cNvSpPr/>
          <p:nvPr/>
        </p:nvSpPr>
        <p:spPr>
          <a:xfrm>
            <a:off x="7566442" y="9343763"/>
            <a:ext cx="3293945" cy="105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内容验证缺失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7149408" y="3365504"/>
            <a:ext cx="4284669" cy="4944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生成内容如果无法被验证，只能停留在剧情文本层。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endParaRPr lang="en-US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系统需要接入真实玩法结果，对事件真伪进行验证。</a:t>
            </a:r>
            <a:endParaRPr lang="en-US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19508051" y="9298568"/>
            <a:ext cx="3293945" cy="105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状态修改风险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19012690" y="3365501"/>
            <a:ext cx="4284669" cy="4944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直接改状态会破坏规则确定性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endParaRPr lang="en-US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仅生成候选事件由本地系统裁决。</a:t>
            </a:r>
          </a:p>
        </p:txBody>
      </p:sp>
      <p:sp>
        <p:nvSpPr>
          <p:cNvPr id="2" name="Text 0"/>
          <p:cNvSpPr/>
          <p:nvPr/>
        </p:nvSpPr>
        <p:spPr>
          <a:xfrm>
            <a:off x="938329" y="1384301"/>
            <a:ext cx="14365497" cy="123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游戏确定性与</a:t>
            </a:r>
            <a:r>
              <a:rPr 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 AI </a:t>
            </a:r>
            <a:r>
              <a:rPr lang="en-US" sz="6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不确定性的工程调和</a:t>
            </a:r>
            <a:endParaRPr lang="en-US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491" y="939801"/>
            <a:ext cx="8874621" cy="123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从玩家请求到结果反馈的七步技术链路</a:t>
            </a:r>
            <a:endParaRPr lang="en-US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B5D60E0-F04F-DC42-4376-9628A8B1E60E}"/>
              </a:ext>
            </a:extLst>
          </p:cNvPr>
          <p:cNvGrpSpPr/>
          <p:nvPr/>
        </p:nvGrpSpPr>
        <p:grpSpPr>
          <a:xfrm>
            <a:off x="7432808" y="2993604"/>
            <a:ext cx="3540174" cy="2430518"/>
            <a:chOff x="3260594" y="3956863"/>
            <a:chExt cx="5208674" cy="3810881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F7BA4F87-96D9-D384-E30C-6B5F784EE933}"/>
                </a:ext>
              </a:extLst>
            </p:cNvPr>
            <p:cNvGrpSpPr/>
            <p:nvPr/>
          </p:nvGrpSpPr>
          <p:grpSpPr>
            <a:xfrm>
              <a:off x="3260594" y="3956863"/>
              <a:ext cx="5208674" cy="3810881"/>
              <a:chOff x="3260594" y="3956863"/>
              <a:chExt cx="5208674" cy="3810881"/>
            </a:xfrm>
          </p:grpSpPr>
          <p:sp>
            <p:nvSpPr>
              <p:cNvPr id="3" name="Shape 1"/>
              <p:cNvSpPr/>
              <p:nvPr/>
            </p:nvSpPr>
            <p:spPr>
              <a:xfrm rot="20220000">
                <a:off x="3260594" y="4746010"/>
                <a:ext cx="5208674" cy="1959178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2700">
                <a:solidFill>
                  <a:srgbClr val="ADADAD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4" name="Image 0" descr="https://kimi-img.moonshot.cn/pub/slides/slides_tmpl/image/25-09-04-12:09:19-d2sh1ru1bb2p4onbp390.svg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636567" y="3956863"/>
                <a:ext cx="2885490" cy="3810881"/>
              </a:xfrm>
              <a:prstGeom prst="rect">
                <a:avLst/>
              </a:prstGeom>
            </p:spPr>
          </p:pic>
        </p:grpSp>
        <p:sp>
          <p:nvSpPr>
            <p:cNvPr id="5" name="Shape 2"/>
            <p:cNvSpPr/>
            <p:nvPr/>
          </p:nvSpPr>
          <p:spPr>
            <a:xfrm>
              <a:off x="7386327" y="5856498"/>
              <a:ext cx="177822" cy="165100"/>
            </a:xfrm>
            <a:prstGeom prst="ellipse">
              <a:avLst/>
            </a:prstGeom>
            <a:solidFill>
              <a:srgbClr val="60678E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Shape 3"/>
            <p:cNvSpPr/>
            <p:nvPr/>
          </p:nvSpPr>
          <p:spPr>
            <a:xfrm>
              <a:off x="4414156" y="5259598"/>
              <a:ext cx="177822" cy="165100"/>
            </a:xfrm>
            <a:prstGeom prst="ellipse">
              <a:avLst/>
            </a:prstGeom>
            <a:solidFill>
              <a:srgbClr val="60678E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7" name="Image 1" descr="https://kimi-img.moonshot.cn/pub/slides/slides_tmpl/image/25-09-04-12:09:21-d2sh1se1bb2p4onbp3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3791" y="0"/>
            <a:ext cx="11761670" cy="13716000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0E43DC21-42DC-E263-6775-3E57CED2C32B}"/>
              </a:ext>
            </a:extLst>
          </p:cNvPr>
          <p:cNvGrpSpPr/>
          <p:nvPr/>
        </p:nvGrpSpPr>
        <p:grpSpPr>
          <a:xfrm>
            <a:off x="894915" y="5243958"/>
            <a:ext cx="10506330" cy="1454605"/>
            <a:chOff x="85207" y="8391645"/>
            <a:chExt cx="10506330" cy="1454605"/>
          </a:xfrm>
        </p:grpSpPr>
        <p:pic>
          <p:nvPicPr>
            <p:cNvPr id="13" name="Image 1" descr="https://kimi-img.moonshot.cn/pub/slides/slides_tmpl/image/25-09-04-12:09:15-d2sh1qu1bb2p4onbp2k0.svg">
              <a:extLst>
                <a:ext uri="{FF2B5EF4-FFF2-40B4-BE49-F238E27FC236}">
                  <a16:creationId xmlns:a16="http://schemas.microsoft.com/office/drawing/2014/main" id="{758C8688-92E8-990A-A043-DE854312FD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7483" y="9280525"/>
              <a:ext cx="9234054" cy="6350"/>
            </a:xfrm>
            <a:prstGeom prst="rect">
              <a:avLst/>
            </a:prstGeom>
          </p:spPr>
        </p:pic>
        <p:sp>
          <p:nvSpPr>
            <p:cNvPr id="14" name="Shape 1">
              <a:extLst>
                <a:ext uri="{FF2B5EF4-FFF2-40B4-BE49-F238E27FC236}">
                  <a16:creationId xmlns:a16="http://schemas.microsoft.com/office/drawing/2014/main" id="{3A432C91-157B-8DE5-99D8-68613F6AE8F8}"/>
                </a:ext>
              </a:extLst>
            </p:cNvPr>
            <p:cNvSpPr/>
            <p:nvPr/>
          </p:nvSpPr>
          <p:spPr>
            <a:xfrm>
              <a:off x="917223" y="8391645"/>
              <a:ext cx="880520" cy="895229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ADADA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3">
              <a:extLst>
                <a:ext uri="{FF2B5EF4-FFF2-40B4-BE49-F238E27FC236}">
                  <a16:creationId xmlns:a16="http://schemas.microsoft.com/office/drawing/2014/main" id="{F52A0858-EDD3-F523-2F0C-C5E0F52E6C0F}"/>
                </a:ext>
              </a:extLst>
            </p:cNvPr>
            <p:cNvSpPr/>
            <p:nvPr/>
          </p:nvSpPr>
          <p:spPr>
            <a:xfrm>
              <a:off x="85207" y="8495817"/>
              <a:ext cx="2544551" cy="13504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4800" dirty="0">
                  <a:solidFill>
                    <a:srgbClr val="DFDFD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</a:t>
              </a:r>
              <a:endParaRPr lang="en-US" sz="1100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1468A68-160C-CACA-A502-FB00D12F69BF}"/>
              </a:ext>
            </a:extLst>
          </p:cNvPr>
          <p:cNvGrpSpPr/>
          <p:nvPr/>
        </p:nvGrpSpPr>
        <p:grpSpPr>
          <a:xfrm>
            <a:off x="894915" y="6390943"/>
            <a:ext cx="10506330" cy="1454605"/>
            <a:chOff x="85207" y="8391645"/>
            <a:chExt cx="10506330" cy="1454605"/>
          </a:xfrm>
        </p:grpSpPr>
        <p:pic>
          <p:nvPicPr>
            <p:cNvPr id="19" name="Image 1" descr="https://kimi-img.moonshot.cn/pub/slides/slides_tmpl/image/25-09-04-12:09:15-d2sh1qu1bb2p4onbp2k0.svg">
              <a:extLst>
                <a:ext uri="{FF2B5EF4-FFF2-40B4-BE49-F238E27FC236}">
                  <a16:creationId xmlns:a16="http://schemas.microsoft.com/office/drawing/2014/main" id="{89E8CE97-2D27-9F71-347D-2DF6F00D5C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7483" y="9280525"/>
              <a:ext cx="9234054" cy="6350"/>
            </a:xfrm>
            <a:prstGeom prst="rect">
              <a:avLst/>
            </a:prstGeom>
          </p:spPr>
        </p:pic>
        <p:sp>
          <p:nvSpPr>
            <p:cNvPr id="20" name="Shape 1">
              <a:extLst>
                <a:ext uri="{FF2B5EF4-FFF2-40B4-BE49-F238E27FC236}">
                  <a16:creationId xmlns:a16="http://schemas.microsoft.com/office/drawing/2014/main" id="{E3A5BF04-38EE-2DEA-5FF2-1616A31AA3D4}"/>
                </a:ext>
              </a:extLst>
            </p:cNvPr>
            <p:cNvSpPr/>
            <p:nvPr/>
          </p:nvSpPr>
          <p:spPr>
            <a:xfrm>
              <a:off x="917223" y="8391645"/>
              <a:ext cx="880520" cy="895229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ADADA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3">
              <a:extLst>
                <a:ext uri="{FF2B5EF4-FFF2-40B4-BE49-F238E27FC236}">
                  <a16:creationId xmlns:a16="http://schemas.microsoft.com/office/drawing/2014/main" id="{B017D73E-6D1F-99EF-8D2F-3EE281FB560B}"/>
                </a:ext>
              </a:extLst>
            </p:cNvPr>
            <p:cNvSpPr/>
            <p:nvPr/>
          </p:nvSpPr>
          <p:spPr>
            <a:xfrm>
              <a:off x="85207" y="8495817"/>
              <a:ext cx="2544551" cy="13504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4800" dirty="0">
                  <a:solidFill>
                    <a:srgbClr val="DFDFD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</a:t>
              </a:r>
              <a:endParaRPr lang="en-US" sz="1100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C3F8FE3-2804-0B0D-3113-781414280D59}"/>
              </a:ext>
            </a:extLst>
          </p:cNvPr>
          <p:cNvGrpSpPr/>
          <p:nvPr/>
        </p:nvGrpSpPr>
        <p:grpSpPr>
          <a:xfrm>
            <a:off x="894915" y="7562980"/>
            <a:ext cx="10506330" cy="1454605"/>
            <a:chOff x="85207" y="8391645"/>
            <a:chExt cx="10506330" cy="1454605"/>
          </a:xfrm>
        </p:grpSpPr>
        <p:pic>
          <p:nvPicPr>
            <p:cNvPr id="23" name="Image 1" descr="https://kimi-img.moonshot.cn/pub/slides/slides_tmpl/image/25-09-04-12:09:15-d2sh1qu1bb2p4onbp2k0.svg">
              <a:extLst>
                <a:ext uri="{FF2B5EF4-FFF2-40B4-BE49-F238E27FC236}">
                  <a16:creationId xmlns:a16="http://schemas.microsoft.com/office/drawing/2014/main" id="{0E09EC87-951D-D8FE-5404-3F3D5CFE65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7483" y="9280525"/>
              <a:ext cx="9234054" cy="6350"/>
            </a:xfrm>
            <a:prstGeom prst="rect">
              <a:avLst/>
            </a:prstGeom>
          </p:spPr>
        </p:pic>
        <p:sp>
          <p:nvSpPr>
            <p:cNvPr id="24" name="Shape 1">
              <a:extLst>
                <a:ext uri="{FF2B5EF4-FFF2-40B4-BE49-F238E27FC236}">
                  <a16:creationId xmlns:a16="http://schemas.microsoft.com/office/drawing/2014/main" id="{CE19B4B6-9FC2-0080-72FC-02FB6C8892FA}"/>
                </a:ext>
              </a:extLst>
            </p:cNvPr>
            <p:cNvSpPr/>
            <p:nvPr/>
          </p:nvSpPr>
          <p:spPr>
            <a:xfrm>
              <a:off x="917223" y="8391645"/>
              <a:ext cx="880520" cy="895229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ADADA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3">
              <a:extLst>
                <a:ext uri="{FF2B5EF4-FFF2-40B4-BE49-F238E27FC236}">
                  <a16:creationId xmlns:a16="http://schemas.microsoft.com/office/drawing/2014/main" id="{9DEDAD42-866C-9341-8535-D7021CFAF821}"/>
                </a:ext>
              </a:extLst>
            </p:cNvPr>
            <p:cNvSpPr/>
            <p:nvPr/>
          </p:nvSpPr>
          <p:spPr>
            <a:xfrm>
              <a:off x="85207" y="8495817"/>
              <a:ext cx="2544551" cy="13504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4800" dirty="0">
                  <a:solidFill>
                    <a:srgbClr val="DFDFD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3</a:t>
              </a:r>
              <a:endParaRPr lang="en-US" sz="1100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4B84214-8853-1640-BE7A-0E77433BD585}"/>
              </a:ext>
            </a:extLst>
          </p:cNvPr>
          <p:cNvGrpSpPr/>
          <p:nvPr/>
        </p:nvGrpSpPr>
        <p:grpSpPr>
          <a:xfrm>
            <a:off x="894915" y="8711259"/>
            <a:ext cx="10506330" cy="1454605"/>
            <a:chOff x="85207" y="8391645"/>
            <a:chExt cx="10506330" cy="1454605"/>
          </a:xfrm>
        </p:grpSpPr>
        <p:pic>
          <p:nvPicPr>
            <p:cNvPr id="27" name="Image 1" descr="https://kimi-img.moonshot.cn/pub/slides/slides_tmpl/image/25-09-04-12:09:15-d2sh1qu1bb2p4onbp2k0.svg">
              <a:extLst>
                <a:ext uri="{FF2B5EF4-FFF2-40B4-BE49-F238E27FC236}">
                  <a16:creationId xmlns:a16="http://schemas.microsoft.com/office/drawing/2014/main" id="{3342200F-EC24-4F10-900E-9D3F752A56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7483" y="9280525"/>
              <a:ext cx="9234054" cy="6350"/>
            </a:xfrm>
            <a:prstGeom prst="rect">
              <a:avLst/>
            </a:prstGeom>
          </p:spPr>
        </p:pic>
        <p:sp>
          <p:nvSpPr>
            <p:cNvPr id="28" name="Shape 1">
              <a:extLst>
                <a:ext uri="{FF2B5EF4-FFF2-40B4-BE49-F238E27FC236}">
                  <a16:creationId xmlns:a16="http://schemas.microsoft.com/office/drawing/2014/main" id="{09F0FA1E-B86A-47B5-1631-490BC682ACB0}"/>
                </a:ext>
              </a:extLst>
            </p:cNvPr>
            <p:cNvSpPr/>
            <p:nvPr/>
          </p:nvSpPr>
          <p:spPr>
            <a:xfrm>
              <a:off x="917223" y="8391645"/>
              <a:ext cx="880520" cy="895229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ADADA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3">
              <a:extLst>
                <a:ext uri="{FF2B5EF4-FFF2-40B4-BE49-F238E27FC236}">
                  <a16:creationId xmlns:a16="http://schemas.microsoft.com/office/drawing/2014/main" id="{1DD831CD-6362-671C-163B-75E9720219D0}"/>
                </a:ext>
              </a:extLst>
            </p:cNvPr>
            <p:cNvSpPr/>
            <p:nvPr/>
          </p:nvSpPr>
          <p:spPr>
            <a:xfrm>
              <a:off x="85207" y="8495817"/>
              <a:ext cx="2544551" cy="13504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4800" dirty="0">
                  <a:solidFill>
                    <a:srgbClr val="DFDFD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</a:t>
              </a:r>
              <a:endParaRPr lang="en-US" sz="1100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79E95FD-31FF-741B-C819-3DF1442F79B3}"/>
              </a:ext>
            </a:extLst>
          </p:cNvPr>
          <p:cNvGrpSpPr/>
          <p:nvPr/>
        </p:nvGrpSpPr>
        <p:grpSpPr>
          <a:xfrm>
            <a:off x="894915" y="9876366"/>
            <a:ext cx="10506330" cy="1454605"/>
            <a:chOff x="85207" y="8391645"/>
            <a:chExt cx="10506330" cy="1454605"/>
          </a:xfrm>
        </p:grpSpPr>
        <p:pic>
          <p:nvPicPr>
            <p:cNvPr id="31" name="Image 1" descr="https://kimi-img.moonshot.cn/pub/slides/slides_tmpl/image/25-09-04-12:09:15-d2sh1qu1bb2p4onbp2k0.svg">
              <a:extLst>
                <a:ext uri="{FF2B5EF4-FFF2-40B4-BE49-F238E27FC236}">
                  <a16:creationId xmlns:a16="http://schemas.microsoft.com/office/drawing/2014/main" id="{8CCBE4E6-B767-FD6C-E062-6C137CC2F0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7483" y="9280525"/>
              <a:ext cx="9234054" cy="6350"/>
            </a:xfrm>
            <a:prstGeom prst="rect">
              <a:avLst/>
            </a:prstGeom>
          </p:spPr>
        </p:pic>
        <p:sp>
          <p:nvSpPr>
            <p:cNvPr id="32" name="Shape 1">
              <a:extLst>
                <a:ext uri="{FF2B5EF4-FFF2-40B4-BE49-F238E27FC236}">
                  <a16:creationId xmlns:a16="http://schemas.microsoft.com/office/drawing/2014/main" id="{4A9A3CA8-302D-2D2C-ECA7-EE7D84CD0CB1}"/>
                </a:ext>
              </a:extLst>
            </p:cNvPr>
            <p:cNvSpPr/>
            <p:nvPr/>
          </p:nvSpPr>
          <p:spPr>
            <a:xfrm>
              <a:off x="917223" y="8391645"/>
              <a:ext cx="880520" cy="895229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ADADA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3">
              <a:extLst>
                <a:ext uri="{FF2B5EF4-FFF2-40B4-BE49-F238E27FC236}">
                  <a16:creationId xmlns:a16="http://schemas.microsoft.com/office/drawing/2014/main" id="{7ACE732D-F5BA-CE83-D182-F020AADA66BA}"/>
                </a:ext>
              </a:extLst>
            </p:cNvPr>
            <p:cNvSpPr/>
            <p:nvPr/>
          </p:nvSpPr>
          <p:spPr>
            <a:xfrm>
              <a:off x="85207" y="8495817"/>
              <a:ext cx="2544551" cy="13504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4800" dirty="0">
                  <a:solidFill>
                    <a:srgbClr val="DFDFD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5</a:t>
              </a:r>
              <a:endParaRPr lang="en-US" sz="1100" dirty="0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8030F5F-5886-F19E-5363-5BB41DBB99E1}"/>
              </a:ext>
            </a:extLst>
          </p:cNvPr>
          <p:cNvGrpSpPr/>
          <p:nvPr/>
        </p:nvGrpSpPr>
        <p:grpSpPr>
          <a:xfrm>
            <a:off x="894915" y="11089889"/>
            <a:ext cx="10506330" cy="1454605"/>
            <a:chOff x="85207" y="8391645"/>
            <a:chExt cx="10506330" cy="1454605"/>
          </a:xfrm>
        </p:grpSpPr>
        <p:pic>
          <p:nvPicPr>
            <p:cNvPr id="35" name="Image 1" descr="https://kimi-img.moonshot.cn/pub/slides/slides_tmpl/image/25-09-04-12:09:15-d2sh1qu1bb2p4onbp2k0.svg">
              <a:extLst>
                <a:ext uri="{FF2B5EF4-FFF2-40B4-BE49-F238E27FC236}">
                  <a16:creationId xmlns:a16="http://schemas.microsoft.com/office/drawing/2014/main" id="{019C4F8C-7C4C-319B-2941-23C2F96D8D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7483" y="9280525"/>
              <a:ext cx="9234054" cy="6350"/>
            </a:xfrm>
            <a:prstGeom prst="rect">
              <a:avLst/>
            </a:prstGeom>
          </p:spPr>
        </p:pic>
        <p:sp>
          <p:nvSpPr>
            <p:cNvPr id="36" name="Shape 1">
              <a:extLst>
                <a:ext uri="{FF2B5EF4-FFF2-40B4-BE49-F238E27FC236}">
                  <a16:creationId xmlns:a16="http://schemas.microsoft.com/office/drawing/2014/main" id="{54AB1BCB-9308-49E8-0E14-9B14CC8F52D9}"/>
                </a:ext>
              </a:extLst>
            </p:cNvPr>
            <p:cNvSpPr/>
            <p:nvPr/>
          </p:nvSpPr>
          <p:spPr>
            <a:xfrm>
              <a:off x="917223" y="8391645"/>
              <a:ext cx="880520" cy="895229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ADADA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3">
              <a:extLst>
                <a:ext uri="{FF2B5EF4-FFF2-40B4-BE49-F238E27FC236}">
                  <a16:creationId xmlns:a16="http://schemas.microsoft.com/office/drawing/2014/main" id="{79805FF8-C4DD-6DE9-8220-524C8C537BE0}"/>
                </a:ext>
              </a:extLst>
            </p:cNvPr>
            <p:cNvSpPr/>
            <p:nvPr/>
          </p:nvSpPr>
          <p:spPr>
            <a:xfrm>
              <a:off x="85207" y="8495817"/>
              <a:ext cx="2544551" cy="13504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4800" dirty="0">
                  <a:solidFill>
                    <a:srgbClr val="DFDFD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6</a:t>
              </a:r>
              <a:endParaRPr lang="en-US" sz="1100" dirty="0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9F5031E-AC51-6CA3-0A7E-642F08A4155E}"/>
              </a:ext>
            </a:extLst>
          </p:cNvPr>
          <p:cNvGrpSpPr/>
          <p:nvPr/>
        </p:nvGrpSpPr>
        <p:grpSpPr>
          <a:xfrm>
            <a:off x="894915" y="12274392"/>
            <a:ext cx="10506330" cy="1454605"/>
            <a:chOff x="85207" y="8391645"/>
            <a:chExt cx="10506330" cy="1454605"/>
          </a:xfrm>
        </p:grpSpPr>
        <p:pic>
          <p:nvPicPr>
            <p:cNvPr id="39" name="Image 1" descr="https://kimi-img.moonshot.cn/pub/slides/slides_tmpl/image/25-09-04-12:09:15-d2sh1qu1bb2p4onbp2k0.svg">
              <a:extLst>
                <a:ext uri="{FF2B5EF4-FFF2-40B4-BE49-F238E27FC236}">
                  <a16:creationId xmlns:a16="http://schemas.microsoft.com/office/drawing/2014/main" id="{2FF29828-03AE-6D93-E20C-B107CE3F24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7483" y="9280525"/>
              <a:ext cx="9234054" cy="6350"/>
            </a:xfrm>
            <a:prstGeom prst="rect">
              <a:avLst/>
            </a:prstGeom>
          </p:spPr>
        </p:pic>
        <p:sp>
          <p:nvSpPr>
            <p:cNvPr id="40" name="Shape 1">
              <a:extLst>
                <a:ext uri="{FF2B5EF4-FFF2-40B4-BE49-F238E27FC236}">
                  <a16:creationId xmlns:a16="http://schemas.microsoft.com/office/drawing/2014/main" id="{CFE60640-8E8A-FA75-7650-EDCAE304FBA0}"/>
                </a:ext>
              </a:extLst>
            </p:cNvPr>
            <p:cNvSpPr/>
            <p:nvPr/>
          </p:nvSpPr>
          <p:spPr>
            <a:xfrm>
              <a:off x="917223" y="8391645"/>
              <a:ext cx="880520" cy="895229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ADADA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3">
              <a:extLst>
                <a:ext uri="{FF2B5EF4-FFF2-40B4-BE49-F238E27FC236}">
                  <a16:creationId xmlns:a16="http://schemas.microsoft.com/office/drawing/2014/main" id="{F81E08E0-633D-D281-AB05-F6B6660D30F3}"/>
                </a:ext>
              </a:extLst>
            </p:cNvPr>
            <p:cNvSpPr/>
            <p:nvPr/>
          </p:nvSpPr>
          <p:spPr>
            <a:xfrm>
              <a:off x="85207" y="8495817"/>
              <a:ext cx="2544551" cy="13504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4800" dirty="0">
                  <a:solidFill>
                    <a:srgbClr val="DFDFD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7</a:t>
              </a:r>
              <a:endParaRPr lang="en-US" sz="1100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A3A5BD3-3058-D13E-A273-255946F842EB}"/>
              </a:ext>
            </a:extLst>
          </p:cNvPr>
          <p:cNvSpPr txBox="1"/>
          <p:nvPr/>
        </p:nvSpPr>
        <p:spPr>
          <a:xfrm>
            <a:off x="3231122" y="5465377"/>
            <a:ext cx="12193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玩家提出开放性请求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0BDA4B3-8AD2-9832-F820-EA9825E2BA6E}"/>
              </a:ext>
            </a:extLst>
          </p:cNvPr>
          <p:cNvSpPr txBox="1"/>
          <p:nvPr/>
        </p:nvSpPr>
        <p:spPr>
          <a:xfrm>
            <a:off x="3231122" y="6623682"/>
            <a:ext cx="12193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本地规则判断是否需要 AI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3C14987-40B0-DF70-2B46-20AB29E03866}"/>
              </a:ext>
            </a:extLst>
          </p:cNvPr>
          <p:cNvSpPr txBox="1"/>
          <p:nvPr/>
        </p:nvSpPr>
        <p:spPr>
          <a:xfrm>
            <a:off x="3231122" y="7846129"/>
            <a:ext cx="12193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C++ AI 网关注入 NPC 与世界上下文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7524EA2-2857-1150-48B9-A76E30EBA2D1}"/>
              </a:ext>
            </a:extLst>
          </p:cNvPr>
          <p:cNvSpPr txBox="1"/>
          <p:nvPr/>
        </p:nvSpPr>
        <p:spPr>
          <a:xfrm>
            <a:off x="3231122" y="8982003"/>
            <a:ext cx="12193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模型生成结构化候选事件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BD913CC-A998-A964-7AA4-1EF5450F8E7A}"/>
              </a:ext>
            </a:extLst>
          </p:cNvPr>
          <p:cNvSpPr txBox="1"/>
          <p:nvPr/>
        </p:nvSpPr>
        <p:spPr>
          <a:xfrm>
            <a:off x="3231122" y="10083576"/>
            <a:ext cx="12193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事件协议校验与本地注册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9D24F1A-8543-4D5D-1DE9-777CEF6FF972}"/>
              </a:ext>
            </a:extLst>
          </p:cNvPr>
          <p:cNvSpPr txBox="1"/>
          <p:nvPr/>
        </p:nvSpPr>
        <p:spPr>
          <a:xfrm>
            <a:off x="3231122" y="11320512"/>
            <a:ext cx="12193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玩家通过真实玩法验证事件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841D1E8-4D40-9227-0E17-991E5DAF5A20}"/>
              </a:ext>
            </a:extLst>
          </p:cNvPr>
          <p:cNvSpPr txBox="1"/>
          <p:nvPr/>
        </p:nvSpPr>
        <p:spPr>
          <a:xfrm>
            <a:off x="3231122" y="12422085"/>
            <a:ext cx="12193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结果反馈到 UI 与世界信息面板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24-d2sh1t61bb2p4onbp3m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87" y="0"/>
            <a:ext cx="24387048" cy="13716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2:09:16-d2sh1r61bb2p4onbp2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4198" y="4182745"/>
            <a:ext cx="2235479" cy="2235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56666" y="8736966"/>
            <a:ext cx="11257840" cy="123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系统架构与核心模块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624193" y="7133590"/>
            <a:ext cx="11190099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09-04-12:09:16-d2sh1r61bb2p4onbp2q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2185" y="10608945"/>
            <a:ext cx="5633154" cy="2540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4-12:09:16-d2sh1r61bb2p4onbp2r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79236" y="0"/>
            <a:ext cx="25403" cy="43561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1091132" y="4182745"/>
            <a:ext cx="2231246" cy="2235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9" name="Image 4" descr="https://kimi-img.moonshot.cn/pub/slides/slides_tmpl/image/25-09-04-12:09:16-d2sh1r61bb2p4onbp2r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4928" y="2011045"/>
            <a:ext cx="6566721" cy="656590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11086899" y="4182745"/>
            <a:ext cx="2222778" cy="2222500"/>
          </a:xfrm>
          <a:prstGeom prst="ellipse">
            <a:avLst/>
          </a:prstGeom>
          <a:solidFill>
            <a:srgbClr val="000000">
              <a:alpha val="0"/>
            </a:srgbClr>
          </a:solidFill>
          <a:ln w="127000">
            <a:solidFill>
              <a:srgbClr val="2C617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4"/>
          <p:cNvSpPr/>
          <p:nvPr/>
        </p:nvSpPr>
        <p:spPr>
          <a:xfrm>
            <a:off x="963734" y="-5765800"/>
            <a:ext cx="22469108" cy="224663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1718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25-d2sh1te1bb2p4onbp3u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8635" y="3683000"/>
            <a:ext cx="4432854" cy="44323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2:09:25-d2sh1te1bb2p4onbp3v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5806" y="6771320"/>
            <a:ext cx="4433958" cy="4433404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2:09:25-d2sh1te1bb2p4onbp3v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4529" y="6769943"/>
            <a:ext cx="4433952" cy="4433404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2:09:25-d2sh1te1bb2p4onbp40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8635" y="3683000"/>
            <a:ext cx="4432854" cy="44323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2:09:26-d2sh1tm1bb2p4onbp40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95806" y="6771320"/>
            <a:ext cx="4433958" cy="4433404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09-04-12:09:26-d2sh1tm1bb2p4onbp41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64529" y="6769943"/>
            <a:ext cx="4433952" cy="443340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55869" y="1066801"/>
            <a:ext cx="14331626" cy="123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面向</a:t>
            </a:r>
            <a:r>
              <a:rPr 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AI </a:t>
            </a:r>
            <a:r>
              <a:rPr lang="en-US" sz="6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动态事件的</a:t>
            </a:r>
            <a:r>
              <a:rPr lang="zh-CN" alt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四层</a:t>
            </a:r>
            <a:r>
              <a:rPr lang="en-US" sz="6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工程</a:t>
            </a:r>
            <a:r>
              <a:rPr lang="zh-CN" alt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架构</a:t>
            </a:r>
            <a:r>
              <a:rPr lang="en-US" sz="6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设计</a:t>
            </a:r>
            <a:endParaRPr lang="en-US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9" name="Image 6" descr="https://kimi-img.moonshot.cn/pub/slides/slides_tmpl/image/25-09-04-12:09:26-d2sh1tm1bb2p4onbp42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800548" y="3460750"/>
            <a:ext cx="3586338" cy="1204640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4-12:09:26-d2sh1tm1bb2p4onbp42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6224" y="8985250"/>
            <a:ext cx="1492437" cy="12700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4-12:09:26-d2sh1tm1bb2p4onbp43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027816" y="8985250"/>
            <a:ext cx="1359070" cy="12700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-6047543" y="-13246100"/>
            <a:ext cx="24387048" cy="1371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10333271" y="5321301"/>
            <a:ext cx="3260074" cy="120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32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</a:t>
            </a:r>
            <a:r>
              <a:rPr lang="en-US" sz="32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层架构流程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17717128" y="2705101"/>
            <a:ext cx="5415110" cy="357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动态事件流程压缩为输入、生成、管理、反馈四个阶段，突出事件从产生到验证的主线。</a:t>
            </a:r>
            <a:endParaRPr lang="en-US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8186703" y="8572501"/>
            <a:ext cx="3260074" cy="2523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32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事件流转逻辑</a:t>
            </a:r>
            <a:endParaRPr lang="en-US" sz="3200" dirty="0">
              <a:solidFill>
                <a:srgbClr val="60678E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00226" y="8115301"/>
            <a:ext cx="5415110" cy="357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玩家输入经意图判断进入候选生成，候选事件完成校验与注册后，再由真实玩法结果完成验证和反馈。</a:t>
            </a:r>
            <a:r>
              <a:rPr lang="zh-CN" altLang="en-US" sz="2800" dirty="0"/>
              <a:t>。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12327421" y="8572501"/>
            <a:ext cx="3260074" cy="2523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架构核心原则</a:t>
            </a:r>
            <a:endParaRPr lang="en-US" sz="1600" dirty="0"/>
          </a:p>
        </p:txBody>
      </p:sp>
      <p:sp>
        <p:nvSpPr>
          <p:cNvPr id="18" name="Text 7"/>
          <p:cNvSpPr/>
          <p:nvPr/>
        </p:nvSpPr>
        <p:spPr>
          <a:xfrm>
            <a:off x="17717128" y="8115301"/>
            <a:ext cx="5415110" cy="357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不直接修改游戏状态，只生成候选事件；最终结果由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Unity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本地规则决定。</a:t>
            </a:r>
            <a:endParaRPr lang="en-US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 descr="https://kimi-img.moonshot.cn/pub/slides/slides_tmpl/image/25-09-04-12:09:24-d2sh1t61bb2p4onbp3kg.svg">
            <a:extLst>
              <a:ext uri="{FF2B5EF4-FFF2-40B4-BE49-F238E27FC236}">
                <a16:creationId xmlns:a16="http://schemas.microsoft.com/office/drawing/2014/main" id="{637CD357-ACAF-D551-24AF-630DEC5F4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5336" y="3086100"/>
            <a:ext cx="15585308" cy="6817922"/>
          </a:xfrm>
          <a:prstGeom prst="rect">
            <a:avLst/>
          </a:prstGeom>
        </p:spPr>
      </p:pic>
      <p:pic>
        <p:nvPicPr>
          <p:cNvPr id="2" name="Image 0" descr="https://kimi-img.moonshot.cn/pub/slides/slides_tmpl/image/25-09-04-12:09:24-d2sh1t61bb2p4onbp3k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564" y="3086100"/>
            <a:ext cx="6983181" cy="6817921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511562CC-4228-3920-7D88-7D6D537FF2C4}"/>
              </a:ext>
            </a:extLst>
          </p:cNvPr>
          <p:cNvGrpSpPr/>
          <p:nvPr/>
        </p:nvGrpSpPr>
        <p:grpSpPr>
          <a:xfrm>
            <a:off x="2367079" y="4069166"/>
            <a:ext cx="3110149" cy="1513791"/>
            <a:chOff x="5317765" y="5702300"/>
            <a:chExt cx="4188045" cy="2106025"/>
          </a:xfrm>
        </p:grpSpPr>
        <p:sp>
          <p:nvSpPr>
            <p:cNvPr id="4" name="Shape 0"/>
            <p:cNvSpPr/>
            <p:nvPr/>
          </p:nvSpPr>
          <p:spPr>
            <a:xfrm rot="21000000">
              <a:off x="5317765" y="6115685"/>
              <a:ext cx="4188045" cy="169264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ADADA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5" name="Image 2" descr="https://kimi-img.moonshot.cn/pub/slides/slides_tmpl/image/25-09-04-12:09:24-d2sh1t61bb2p4onbp3lg.sv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65418" y="5702300"/>
              <a:ext cx="1663908" cy="1663700"/>
            </a:xfrm>
            <a:prstGeom prst="rect">
              <a:avLst/>
            </a:prstGeom>
          </p:spPr>
        </p:pic>
        <p:sp>
          <p:nvSpPr>
            <p:cNvPr id="6" name="Shape 1"/>
            <p:cNvSpPr/>
            <p:nvPr/>
          </p:nvSpPr>
          <p:spPr>
            <a:xfrm>
              <a:off x="8427914" y="7251700"/>
              <a:ext cx="393749" cy="393700"/>
            </a:xfrm>
            <a:prstGeom prst="ellipse">
              <a:avLst/>
            </a:prstGeom>
            <a:solidFill>
              <a:srgbClr val="5E559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" name="Text 2"/>
          <p:cNvSpPr/>
          <p:nvPr/>
        </p:nvSpPr>
        <p:spPr>
          <a:xfrm>
            <a:off x="785676" y="1130250"/>
            <a:ext cx="15365166" cy="1337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意图路由层：从自然语言输入到系统意图</a:t>
            </a:r>
            <a:endParaRPr lang="en-US" sz="6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0" name="Image 5" descr="https://kimi-img.moonshot.cn/pub/slides/slides_tmpl/image/25-09-04-12:09:24-d2sh1t61bb2p4onbp3m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78410" y="4552950"/>
            <a:ext cx="419152" cy="12700"/>
          </a:xfrm>
          <a:prstGeom prst="rect">
            <a:avLst/>
          </a:prstGeom>
        </p:spPr>
      </p:pic>
      <p:pic>
        <p:nvPicPr>
          <p:cNvPr id="11" name="Image 6" descr="https://kimi-img.moonshot.cn/pub/slides/slides_tmpl/image/25-09-04-12:09:24-d2sh1t61bb2p4onbp3n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787986" y="4343400"/>
            <a:ext cx="12702" cy="419100"/>
          </a:xfrm>
          <a:prstGeom prst="rect">
            <a:avLst/>
          </a:prstGeom>
        </p:spPr>
      </p:pic>
      <p:pic>
        <p:nvPicPr>
          <p:cNvPr id="12" name="Image 7" descr="https://kimi-img.moonshot.cn/pub/slides/slides_tmpl/image/25-09-04-12:09:24-d2sh1t61bb2p4onbp3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62722" y="8620125"/>
            <a:ext cx="7354219" cy="6350"/>
          </a:xfrm>
          <a:prstGeom prst="rect">
            <a:avLst/>
          </a:prstGeom>
        </p:spPr>
      </p:pic>
      <p:pic>
        <p:nvPicPr>
          <p:cNvPr id="13" name="Image 8" descr="https://kimi-img.moonshot.cn/pub/slides/slides_tmpl/image/25-09-04-12:09:24-d2sh1t61bb2p4onbp3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06652" y="8620125"/>
            <a:ext cx="7354219" cy="6350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A6F7772E-9CA8-A84E-D5BC-EF9803592DFF}"/>
              </a:ext>
            </a:extLst>
          </p:cNvPr>
          <p:cNvGrpSpPr/>
          <p:nvPr/>
        </p:nvGrpSpPr>
        <p:grpSpPr>
          <a:xfrm>
            <a:off x="14329003" y="3528707"/>
            <a:ext cx="3108110" cy="2825527"/>
            <a:chOff x="16017518" y="5092700"/>
            <a:chExt cx="4077210" cy="3473450"/>
          </a:xfrm>
        </p:grpSpPr>
        <p:sp>
          <p:nvSpPr>
            <p:cNvPr id="14" name="Shape 3"/>
            <p:cNvSpPr/>
            <p:nvPr/>
          </p:nvSpPr>
          <p:spPr>
            <a:xfrm rot="1260000">
              <a:off x="16017518" y="6489702"/>
              <a:ext cx="4077210" cy="9779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ADADA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5" name="Image 9" descr="https://kimi-img.moonshot.cn/pub/slides/slides_tmpl/image/25-09-04-12:09:24-d2sh1t61bb2p4onbp3o0.sv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7262277" y="6184900"/>
              <a:ext cx="1587698" cy="1587500"/>
            </a:xfrm>
            <a:prstGeom prst="rect">
              <a:avLst/>
            </a:prstGeom>
          </p:spPr>
        </p:pic>
        <p:pic>
          <p:nvPicPr>
            <p:cNvPr id="16" name="Image 10" descr="https://kimi-img.moonshot.cn/pub/slides/slides_tmpl/image/25-09-04-12:09:24-d2sh1t61bb2p4onbp3og.sv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8024373" y="5092700"/>
              <a:ext cx="1562295" cy="3473450"/>
            </a:xfrm>
            <a:prstGeom prst="rect">
              <a:avLst/>
            </a:prstGeom>
          </p:spPr>
        </p:pic>
      </p:grpSp>
      <p:sp>
        <p:nvSpPr>
          <p:cNvPr id="21" name="Text 6">
            <a:extLst>
              <a:ext uri="{FF2B5EF4-FFF2-40B4-BE49-F238E27FC236}">
                <a16:creationId xmlns:a16="http://schemas.microsoft.com/office/drawing/2014/main" id="{F50A47AD-47E0-7500-339F-F14E80522C13}"/>
              </a:ext>
            </a:extLst>
          </p:cNvPr>
          <p:cNvSpPr/>
          <p:nvPr/>
        </p:nvSpPr>
        <p:spPr>
          <a:xfrm>
            <a:off x="785676" y="3366947"/>
            <a:ext cx="6495802" cy="6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核心架构</a:t>
            </a:r>
            <a:endParaRPr lang="en-US" sz="3600" dirty="0">
              <a:solidFill>
                <a:srgbClr val="DFDFD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5FC79BF-89CA-A976-D767-8492F87826C0}"/>
              </a:ext>
            </a:extLst>
          </p:cNvPr>
          <p:cNvGrpSpPr/>
          <p:nvPr/>
        </p:nvGrpSpPr>
        <p:grpSpPr>
          <a:xfrm>
            <a:off x="16338285" y="9962457"/>
            <a:ext cx="7222359" cy="4930896"/>
            <a:chOff x="17136921" y="8335538"/>
            <a:chExt cx="7222359" cy="4930896"/>
          </a:xfrm>
        </p:grpSpPr>
        <p:pic>
          <p:nvPicPr>
            <p:cNvPr id="24" name="Image 3" descr="https://kimi-img.moonshot.cn/pub/slides/slides_tmpl/image/25-09-04-12:09:27-d2sh1tu1bb2p4onbp4d0.svg">
              <a:extLst>
                <a:ext uri="{FF2B5EF4-FFF2-40B4-BE49-F238E27FC236}">
                  <a16:creationId xmlns:a16="http://schemas.microsoft.com/office/drawing/2014/main" id="{78612662-008A-E789-A2BB-FCD68D9812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136921" y="8335538"/>
              <a:ext cx="7222359" cy="3771497"/>
            </a:xfrm>
            <a:prstGeom prst="rect">
              <a:avLst/>
            </a:prstGeom>
          </p:spPr>
        </p:pic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EB1BC76F-18F2-AC0E-8731-DAAFA2966050}"/>
                </a:ext>
              </a:extLst>
            </p:cNvPr>
            <p:cNvSpPr/>
            <p:nvPr/>
          </p:nvSpPr>
          <p:spPr>
            <a:xfrm>
              <a:off x="17800724" y="8532388"/>
              <a:ext cx="6366690" cy="47340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zh-CN" altLang="en-US" sz="2800" dirty="0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意图解析服务数据结构</a:t>
              </a:r>
              <a:endPara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endParaRPr>
            </a:p>
            <a:p>
              <a:pPr algn="just">
                <a:lnSpc>
                  <a:spcPct val="100000"/>
                </a:lnSpc>
              </a:pPr>
              <a:endPara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2800" dirty="0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intent</a:t>
              </a:r>
              <a:r>
                <a:rPr lang="zh-CN" altLang="en-US" sz="2800" dirty="0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：系统意图</a:t>
              </a:r>
              <a:br>
                <a:rPr lang="zh-CN" altLang="en-US" sz="2800" dirty="0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</a:br>
              <a:r>
                <a:rPr lang="en-US" altLang="zh-CN" sz="2800" dirty="0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confidence</a:t>
              </a:r>
              <a:r>
                <a:rPr lang="zh-CN" altLang="en-US" sz="2800" dirty="0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：置信度</a:t>
              </a:r>
              <a:br>
                <a:rPr lang="zh-CN" altLang="en-US" sz="2800" dirty="0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</a:br>
              <a:r>
                <a:rPr lang="en-US" altLang="zh-CN" sz="2800" dirty="0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reason</a:t>
              </a:r>
              <a:r>
                <a:rPr lang="zh-CN" altLang="en-US" sz="2800" dirty="0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：命中原因</a:t>
              </a:r>
              <a:br>
                <a:rPr lang="zh-CN" altLang="en-US" sz="2800" dirty="0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</a:br>
              <a:r>
                <a:rPr lang="en-US" altLang="zh-CN" sz="2800" dirty="0" err="1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shouldUseBackend</a:t>
              </a:r>
              <a:r>
                <a:rPr lang="zh-CN" altLang="en-US" sz="2800" dirty="0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：是否请求后端模型</a:t>
              </a:r>
              <a:br>
                <a:rPr lang="zh-CN" altLang="en-US" sz="2800" dirty="0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</a:br>
              <a:r>
                <a:rPr lang="en-US" altLang="zh-CN" sz="2800" dirty="0" err="1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chatMode</a:t>
              </a:r>
              <a:r>
                <a:rPr lang="zh-CN" altLang="en-US" sz="2800" dirty="0">
                  <a:solidFill>
                    <a:srgbClr val="ADADAD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：后端对话模式</a:t>
              </a:r>
              <a:endPara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endParaRPr>
            </a:p>
          </p:txBody>
        </p:sp>
      </p:grpSp>
      <p:sp>
        <p:nvSpPr>
          <p:cNvPr id="31" name="Text 6">
            <a:extLst>
              <a:ext uri="{FF2B5EF4-FFF2-40B4-BE49-F238E27FC236}">
                <a16:creationId xmlns:a16="http://schemas.microsoft.com/office/drawing/2014/main" id="{1A2F8D67-6AAD-2B9B-B711-7D62448E5168}"/>
              </a:ext>
            </a:extLst>
          </p:cNvPr>
          <p:cNvSpPr/>
          <p:nvPr/>
        </p:nvSpPr>
        <p:spPr>
          <a:xfrm>
            <a:off x="1243040" y="6441080"/>
            <a:ext cx="7267699" cy="2935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step1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：玩家自然语言输入        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step2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：文本归一化        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step3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：意图解析服务</a:t>
            </a:r>
            <a:r>
              <a:rPr 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</a:t>
            </a:r>
          </a:p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step4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：输出结构化意图        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step5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：分发到对应系统</a:t>
            </a:r>
            <a:endParaRPr lang="en-US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EB530EAD-A96C-0351-797E-D9DF76D3D5AF}"/>
              </a:ext>
            </a:extLst>
          </p:cNvPr>
          <p:cNvSpPr/>
          <p:nvPr/>
        </p:nvSpPr>
        <p:spPr>
          <a:xfrm>
            <a:off x="8610437" y="3366947"/>
            <a:ext cx="14772076" cy="6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核心原则</a:t>
            </a:r>
            <a:endParaRPr lang="en-US" sz="3600" dirty="0">
              <a:solidFill>
                <a:srgbClr val="DFDFD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A9B5583-8D00-B327-65E4-01DA1888C09A}"/>
              </a:ext>
            </a:extLst>
          </p:cNvPr>
          <p:cNvSpPr txBox="1"/>
          <p:nvPr/>
        </p:nvSpPr>
        <p:spPr>
          <a:xfrm>
            <a:off x="8791535" y="6458312"/>
            <a:ext cx="146362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本地强规则层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——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优先级最高，触发真是游戏状态，例如：采信渔闻、汇报验真失败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NPC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规则回复层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——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适合处理稳定、可枚举的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NPC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功能，例如：湖区介绍、鱼价说明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后端大模型层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——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适合处理开放式自由对话，例如：“这里发生过什么”“你怎么看这片湖”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玩法服务层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——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真正修改系统状态的地方，例如：负责渔闻记录、验真状态</a:t>
            </a:r>
          </a:p>
        </p:txBody>
      </p:sp>
      <p:pic>
        <p:nvPicPr>
          <p:cNvPr id="39" name="Image 0" descr="https://kimi-img.moonshot.cn/pub/slides/slides_tmpl/image/25-09-04-12:09:24-d2sh1t61bb2p4onbp3kg.svg">
            <a:extLst>
              <a:ext uri="{FF2B5EF4-FFF2-40B4-BE49-F238E27FC236}">
                <a16:creationId xmlns:a16="http://schemas.microsoft.com/office/drawing/2014/main" id="{652A51B7-99AB-F768-9F66-2F108DD88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54" y="9997427"/>
            <a:ext cx="16207505" cy="3514964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EF7AE8B2-9AC7-EB08-774C-B469E5A81AAC}"/>
              </a:ext>
            </a:extLst>
          </p:cNvPr>
          <p:cNvSpPr txBox="1"/>
          <p:nvPr/>
        </p:nvSpPr>
        <p:spPr>
          <a:xfrm>
            <a:off x="4659518" y="11015935"/>
            <a:ext cx="30568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文本归一化：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这条渔闻不对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命中信息：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包含“渔闻”“不对”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23BA99F-02C0-53C3-385F-BD97F6BE5581}"/>
              </a:ext>
            </a:extLst>
          </p:cNvPr>
          <p:cNvSpPr txBox="1"/>
          <p:nvPr/>
        </p:nvSpPr>
        <p:spPr>
          <a:xfrm>
            <a:off x="1540063" y="11038180"/>
            <a:ext cx="30568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玩家输入：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这条渔闻不对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28C650D-13EA-339B-7CA4-064F3667024E}"/>
              </a:ext>
            </a:extLst>
          </p:cNvPr>
          <p:cNvSpPr txBox="1"/>
          <p:nvPr/>
        </p:nvSpPr>
        <p:spPr>
          <a:xfrm>
            <a:off x="8250928" y="11030298"/>
            <a:ext cx="785871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路由结果：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intent = FailedRumorFeedbacks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houldUseBackend = false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reason = 命中“渔闻”上下文 + “不对”失败反馈词</a:t>
            </a:r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72A655C9-8973-6F4C-7387-984F046AAF55}"/>
              </a:ext>
            </a:extLst>
          </p:cNvPr>
          <p:cNvSpPr/>
          <p:nvPr/>
        </p:nvSpPr>
        <p:spPr>
          <a:xfrm>
            <a:off x="785676" y="10175059"/>
            <a:ext cx="14772076" cy="6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流程演示</a:t>
            </a:r>
            <a:endParaRPr lang="en-US" sz="3600" dirty="0">
              <a:solidFill>
                <a:srgbClr val="DFDFD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8328" y="1384301"/>
            <a:ext cx="14083957" cy="123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AI </a:t>
            </a:r>
            <a:r>
              <a:rPr lang="zh-CN" alt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网关层</a:t>
            </a:r>
            <a:r>
              <a:rPr lang="en-US" altLang="zh-CN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——</a:t>
            </a:r>
            <a:r>
              <a:rPr lang="zh-CN" alt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从系统意图到候选事件</a:t>
            </a:r>
            <a:endParaRPr lang="en-US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1268572" y="4114801"/>
            <a:ext cx="3831646" cy="4034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908892" y="5118100"/>
            <a:ext cx="35183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网关必要性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68572" y="7861301"/>
            <a:ext cx="4754628" cy="357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隔离模型接口细节，避免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Key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、协议差异和网络错误散落在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Unity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脚本层。</a:t>
            </a:r>
            <a:endParaRPr lang="en-US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391" y="4114801"/>
            <a:ext cx="3831646" cy="4034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73660" y="5118100"/>
            <a:ext cx="35183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36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请求控制与</a:t>
            </a:r>
            <a:endParaRPr lang="en-US" altLang="zh-CN" sz="3600" dirty="0">
              <a:solidFill>
                <a:srgbClr val="60678E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zh-CN" altLang="en-US" sz="36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业务编排</a:t>
            </a:r>
            <a:endParaRPr lang="en-US" sz="3600" dirty="0">
              <a:solidFill>
                <a:srgbClr val="60678E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22391" y="7861301"/>
            <a:ext cx="4754628" cy="357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altLang="zh-CN" sz="2800" dirty="0" err="1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ChatController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负责请求解析与参数校验；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800" dirty="0" err="1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ChatService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负责模式判断、任务组织和异常兜底。</a:t>
            </a:r>
            <a:endParaRPr lang="en-US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776210" y="4114801"/>
            <a:ext cx="3831646" cy="4034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512094" y="5106060"/>
            <a:ext cx="35183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6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Prompt </a:t>
            </a:r>
            <a:r>
              <a:rPr lang="zh-CN" altLang="en-US" sz="36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构造与模型调用</a:t>
            </a:r>
            <a:endParaRPr lang="en-US" sz="3600" dirty="0">
              <a:solidFill>
                <a:srgbClr val="60678E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776210" y="7861301"/>
            <a:ext cx="4754628" cy="357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Builder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注入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NPC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、湖区和鱼类上下文；</a:t>
            </a:r>
            <a:endParaRPr lang="en-US" altLang="zh-CN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负责模型调用、协议适配和超时处理。</a:t>
            </a:r>
            <a:endParaRPr lang="en-US" sz="2800" dirty="0">
              <a:solidFill>
                <a:srgbClr val="ADADA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8530029" y="4114801"/>
            <a:ext cx="3831646" cy="4034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647769" y="5118100"/>
            <a:ext cx="423784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36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输出解析与</a:t>
            </a:r>
            <a:endParaRPr lang="en-US" altLang="zh-CN" sz="3600" dirty="0">
              <a:solidFill>
                <a:srgbClr val="60678E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zh-CN" altLang="en-US" sz="36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稳定响应</a:t>
            </a:r>
            <a:endParaRPr lang="en-US" sz="3600" dirty="0">
              <a:solidFill>
                <a:srgbClr val="60678E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530029" y="7861301"/>
            <a:ext cx="4754628" cy="357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Parser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把不稳定的模型文本输出转化为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Unity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可消费的稳定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，作为候选动态事件进入前端玩法系统</a:t>
            </a:r>
            <a:endParaRPr lang="en-US" sz="1600" dirty="0"/>
          </a:p>
        </p:txBody>
      </p:sp>
      <p:pic>
        <p:nvPicPr>
          <p:cNvPr id="15" name="Image 1" descr="https://kimi-img.moonshot.cn/pub/slides/slides_tmpl/image/25-09-04-12:09:29-d2sh1ue1bb2p4onbp4mg.svg">
            <a:extLst>
              <a:ext uri="{FF2B5EF4-FFF2-40B4-BE49-F238E27FC236}">
                <a16:creationId xmlns:a16="http://schemas.microsoft.com/office/drawing/2014/main" id="{AE831461-F36C-7529-A3C7-88E006B1E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25" y="7307491"/>
            <a:ext cx="24298137" cy="95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6030" y="939800"/>
            <a:ext cx="11688074" cy="1236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结构化输出与本地约束层：从模型输出到可注册事件</a:t>
            </a:r>
            <a:endParaRPr lang="en-US" sz="6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3" name="Image 0" descr="https://kimi-img.moonshot.cn/pub/slides/slides_tmpl/image/25-09-04-12:09:19-d2sh1ru1bb2p4onbp37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69285" y="4793256"/>
            <a:ext cx="15280010" cy="12700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4-12:09:19-d2sh1ru1bb2p4onbp37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587" y="6775450"/>
            <a:ext cx="15368921" cy="25400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4-12:09:19-d2sh1ru1bb2p4onbp38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25229" y="0"/>
            <a:ext cx="11260233" cy="1371600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4-12:09:19-d2sh1ru1bb2p4onbp38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301287" y="0"/>
            <a:ext cx="9084175" cy="137160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509902" y="7404101"/>
            <a:ext cx="11207034" cy="3382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55F8C9-08A6-F791-F1CD-F9B370496708}"/>
              </a:ext>
            </a:extLst>
          </p:cNvPr>
          <p:cNvSpPr txBox="1"/>
          <p:nvPr/>
        </p:nvSpPr>
        <p:spPr>
          <a:xfrm>
            <a:off x="1016455" y="3793984"/>
            <a:ext cx="121939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Prompt 侧约束：限定模型生成边界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1D73DF-C6EE-111A-0165-E3890B670556}"/>
              </a:ext>
            </a:extLst>
          </p:cNvPr>
          <p:cNvSpPr txBox="1"/>
          <p:nvPr/>
        </p:nvSpPr>
        <p:spPr>
          <a:xfrm>
            <a:off x="1016455" y="5150088"/>
            <a:ext cx="122286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PromptBuilder 在请求模型前注入本地上下文，包括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NPC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身份、玩家问题、已知湖区列表（</a:t>
            </a:r>
            <a:r>
              <a:rPr lang="en-US" altLang="zh-CN" sz="2800" dirty="0" err="1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known_lakes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）和已知鱼种列表（</a:t>
            </a:r>
            <a:r>
              <a:rPr lang="en-US" altLang="zh-CN" sz="2800" dirty="0" err="1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known_fishes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）。把模型生成空间限制在游戏世界已存在的数据范围内，减少凭空编造。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F5191E4-C117-A966-2364-F199BD642BC3}"/>
              </a:ext>
            </a:extLst>
          </p:cNvPr>
          <p:cNvSpPr txBox="1"/>
          <p:nvPr/>
        </p:nvSpPr>
        <p:spPr>
          <a:xfrm>
            <a:off x="1016455" y="7269817"/>
            <a:ext cx="122286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Parser 侧校验：稳定模型输出结果</a:t>
            </a:r>
          </a:p>
        </p:txBody>
      </p:sp>
      <p:pic>
        <p:nvPicPr>
          <p:cNvPr id="15" name="Image 0" descr="https://kimi-img.moonshot.cn/pub/slides/slides_tmpl/image/25-09-04-12:09:19-d2sh1ru1bb2p4onbp370.svg">
            <a:extLst>
              <a:ext uri="{FF2B5EF4-FFF2-40B4-BE49-F238E27FC236}">
                <a16:creationId xmlns:a16="http://schemas.microsoft.com/office/drawing/2014/main" id="{B9724650-4E01-C6C6-7DB3-3074774924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25" y="8235098"/>
            <a:ext cx="15280010" cy="127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DF7647D-0CF0-2CA1-397E-2434B9336E33}"/>
              </a:ext>
            </a:extLst>
          </p:cNvPr>
          <p:cNvSpPr txBox="1"/>
          <p:nvPr/>
        </p:nvSpPr>
        <p:spPr>
          <a:xfrm>
            <a:off x="1016455" y="8563058"/>
            <a:ext cx="122286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ModelOutputParser会提取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，解析结构化字段，并对异常值进行归一化处理。例如：未知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emotion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回退为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neutral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，未知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animation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回退为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idle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8FAC61B-E727-F595-5BAB-E6EECC27A21E}"/>
              </a:ext>
            </a:extLst>
          </p:cNvPr>
          <p:cNvSpPr txBox="1"/>
          <p:nvPr/>
        </p:nvSpPr>
        <p:spPr>
          <a:xfrm>
            <a:off x="1016455" y="9860160"/>
            <a:ext cx="122286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Unity </a:t>
            </a:r>
            <a:r>
              <a:rPr lang="zh-CN" altLang="en-US" sz="48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本地裁决：控制玩法状态</a:t>
            </a:r>
          </a:p>
        </p:txBody>
      </p:sp>
      <p:pic>
        <p:nvPicPr>
          <p:cNvPr id="20" name="Image 0" descr="https://kimi-img.moonshot.cn/pub/slides/slides_tmpl/image/25-09-04-12:09:19-d2sh1ru1bb2p4onbp370.svg">
            <a:extLst>
              <a:ext uri="{FF2B5EF4-FFF2-40B4-BE49-F238E27FC236}">
                <a16:creationId xmlns:a16="http://schemas.microsoft.com/office/drawing/2014/main" id="{2DC0984A-FAB2-7F8A-E8E5-6842BD330B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77" y="10827872"/>
            <a:ext cx="15280010" cy="1270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C9B17C67-60AD-849B-56DE-74DDD27BE2CB}"/>
              </a:ext>
            </a:extLst>
          </p:cNvPr>
          <p:cNvSpPr txBox="1"/>
          <p:nvPr/>
        </p:nvSpPr>
        <p:spPr>
          <a:xfrm>
            <a:off x="1016455" y="11138821"/>
            <a:ext cx="122286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网关只生成候选事件，不直接修改游戏状态。渔闻是否被采信、是否验真成功、是否发放奖励、是否影响鱼类概率，均由 </a:t>
            </a:r>
            <a:r>
              <a:rPr lang="en-US" altLang="zh-CN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Unity 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本地玩法系统裁决。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24-d2sh1t61bb2p4onbp3m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" y="0"/>
            <a:ext cx="24387048" cy="13716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2:09:16-d2sh1r61bb2p4onbp2q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4198" y="4182745"/>
            <a:ext cx="2235479" cy="2235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56666" y="8736966"/>
            <a:ext cx="11257840" cy="123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渔闻系统与玩法验证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624193" y="7133590"/>
            <a:ext cx="11190099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09-04-12:09:16-d2sh1r61bb2p4onbp2q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2185" y="10608945"/>
            <a:ext cx="5633154" cy="2540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4-12:09:16-d2sh1r61bb2p4onbp2r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79236" y="0"/>
            <a:ext cx="25403" cy="43561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1091132" y="4182745"/>
            <a:ext cx="2231246" cy="2235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9" name="Image 4" descr="https://kimi-img.moonshot.cn/pub/slides/slides_tmpl/image/25-09-04-12:09:16-d2sh1r61bb2p4onbp2r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4928" y="2011045"/>
            <a:ext cx="6566721" cy="656590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11086899" y="4182745"/>
            <a:ext cx="2222778" cy="2222500"/>
          </a:xfrm>
          <a:prstGeom prst="ellipse">
            <a:avLst/>
          </a:prstGeom>
          <a:solidFill>
            <a:srgbClr val="000000">
              <a:alpha val="0"/>
            </a:srgbClr>
          </a:solidFill>
          <a:ln w="127000">
            <a:solidFill>
              <a:srgbClr val="2C617B">
                <a:alpha val="60000"/>
              </a:srgbClr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963734" y="-5765800"/>
            <a:ext cx="22469108" cy="224663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171824"/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29-d2sh1ue1bb2p4onbp4j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87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587" y="1320800"/>
            <a:ext cx="24387048" cy="1371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38330" y="838201"/>
            <a:ext cx="11016510" cy="123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从湖边传闻到可验证玩法事件的闭环</a:t>
            </a:r>
            <a:endParaRPr lang="en-US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5" name="Image 1" descr="https://kimi-img.moonshot.cn/pub/slides/slides_tmpl/image/25-09-04-12:09:27-d2sh1tu1bb2p4onbp4c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582" y="3746500"/>
            <a:ext cx="7430429" cy="868680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2:09:27-d2sh1tu1bb2p4onbp4c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043" y="3746500"/>
            <a:ext cx="7430429" cy="868680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4-12:09:27-d2sh1tu1bb2p4onbp4d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913503" y="3746500"/>
            <a:ext cx="7430429" cy="86868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942756" y="4470400"/>
            <a:ext cx="1232054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48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1675023" y="4470400"/>
            <a:ext cx="461067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渔</a:t>
            </a:r>
            <a:r>
              <a:rPr lang="en-US" sz="3600" dirty="0" err="1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闻系统核心定义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1675023" y="7124701"/>
            <a:ext cx="5618336" cy="357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渔</a:t>
            </a:r>
            <a:r>
              <a:rPr lang="en-US" sz="2800" dirty="0" err="1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闻不是AI写的钓鱼文案，而是转化为有地点、目标、时间窗口和可信度的候选事件</a:t>
            </a:r>
            <a:r>
              <a:rPr 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13627216" y="4470400"/>
            <a:ext cx="1232054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48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9359483" y="4470400"/>
            <a:ext cx="461067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完整闭环流程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359483" y="7124701"/>
            <a:ext cx="5618336" cy="357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 err="1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玩家询问</a:t>
            </a: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渔</a:t>
            </a:r>
            <a:r>
              <a:rPr lang="en-US" sz="2800" dirty="0" err="1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闻后AI生成结构化传闻，经校验注册并公告板发布，玩家采信后进入钓鱼验证</a:t>
            </a:r>
            <a:r>
              <a:rPr 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21311677" y="4470400"/>
            <a:ext cx="1232054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4800" dirty="0">
                <a:solidFill>
                  <a:srgbClr val="60678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7043943" y="4470400"/>
            <a:ext cx="461067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Gameplay Verifier验证逻辑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7043943" y="7124701"/>
            <a:ext cx="5618336" cy="357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验证器不依赖AI判断，而是检查钓鱼结果是否满足湖区、鱼种、时间窗口匹配及次数上限和超时条件。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24-d2sh1t61bb2p4onbp3h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587" y="0"/>
            <a:ext cx="17261457" cy="13716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2:09:24-d2sh1t61bb2p4onbp3h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587" y="0"/>
            <a:ext cx="9589699" cy="13716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985479" y="1244601"/>
            <a:ext cx="6812285" cy="24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不确定但可验证的玩法设计哲学</a:t>
            </a:r>
            <a:endParaRPr lang="en-US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5" name="Shape 1"/>
          <p:cNvSpPr/>
          <p:nvPr/>
        </p:nvSpPr>
        <p:spPr>
          <a:xfrm>
            <a:off x="2297401" y="4267200"/>
            <a:ext cx="1028829" cy="10287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ADAD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2437118" y="4267200"/>
            <a:ext cx="749394" cy="10287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ADAD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2640344" y="4267200"/>
            <a:ext cx="342943" cy="10287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ADAD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 rot="5400000">
            <a:off x="10807465" y="4000500"/>
            <a:ext cx="342943" cy="10287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ADAD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5"/>
          <p:cNvSpPr/>
          <p:nvPr/>
        </p:nvSpPr>
        <p:spPr>
          <a:xfrm rot="5400000">
            <a:off x="10807465" y="4229100"/>
            <a:ext cx="342943" cy="10287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ADAD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6"/>
          <p:cNvSpPr/>
          <p:nvPr/>
        </p:nvSpPr>
        <p:spPr>
          <a:xfrm rot="5400000">
            <a:off x="10807465" y="4457700"/>
            <a:ext cx="342943" cy="10287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ADAD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2" descr="https://kimi-img.moonshot.cn/pub/slides/slides_tmpl/image/25-09-04-12:09:24-d2sh1t61bb2p4onbp3i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315103" y="12282822"/>
            <a:ext cx="965321" cy="2540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9-04-12:09:24-d2sh1t61bb2p4onbp3i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866121" y="12290425"/>
            <a:ext cx="6414302" cy="6350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9-04-12:09:24-d2sh1t61bb2p4onbp3k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799686" y="11798300"/>
            <a:ext cx="25403" cy="965200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9-04-12:09:24-d2sh1t61bb2p4onbp3j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807290" y="4737100"/>
            <a:ext cx="6351" cy="80264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703851" y="4514850"/>
            <a:ext cx="4318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五大核心价值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2297400" y="6019801"/>
            <a:ext cx="5529424" cy="4334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渔</a:t>
            </a:r>
            <a:r>
              <a:rPr 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闻是可采信的信息线索而非任务指令；玩家依据可信度自主决定投入；时间窗口赋予事件行动节奏；真实钓鱼结果赋予传闻可证伪性；验真或失准结果通过公告板形成世界反馈，构建动态信息生态。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10883673" y="4571978"/>
            <a:ext cx="4318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设计哲学本质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10464521" y="6019801"/>
            <a:ext cx="5529424" cy="4334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可玩性来自不确定但可验证：模型提出线索，事实由Unity本地玩法系统产生。AI输出从确定性指令转变为信息驱动的探索动机和策略资源，赋予玩家自主判断和选择空间。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24-d2sh1t61bb2p4onbp3m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" y="0"/>
            <a:ext cx="24387048" cy="13716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2:09:16-d2sh1r61bb2p4onbp2q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4198" y="4182745"/>
            <a:ext cx="2235479" cy="2235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56666" y="8736966"/>
            <a:ext cx="11257840" cy="123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扩展性与创新总结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624193" y="7133590"/>
            <a:ext cx="11190099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SECTIONS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09-04-12:09:16-d2sh1r61bb2p4onbp2q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2185" y="10608945"/>
            <a:ext cx="5633154" cy="2540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4-12:09:16-d2sh1r61bb2p4onbp2r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79236" y="0"/>
            <a:ext cx="25403" cy="43561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1091132" y="4182745"/>
            <a:ext cx="2231246" cy="2235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9" name="Image 4" descr="https://kimi-img.moonshot.cn/pub/slides/slides_tmpl/image/25-09-04-12:09:16-d2sh1r61bb2p4onbp2r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4928" y="2011045"/>
            <a:ext cx="6566721" cy="656590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11086899" y="4182745"/>
            <a:ext cx="2222778" cy="2222500"/>
          </a:xfrm>
          <a:prstGeom prst="ellipse">
            <a:avLst/>
          </a:prstGeom>
          <a:solidFill>
            <a:srgbClr val="000000">
              <a:alpha val="0"/>
            </a:srgbClr>
          </a:solidFill>
          <a:ln w="127000">
            <a:solidFill>
              <a:srgbClr val="2C617B">
                <a:alpha val="60000"/>
              </a:srgbClr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963734" y="-5765800"/>
            <a:ext cx="22469108" cy="224663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171824"/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26-d2sh1tm1bb2p4onbp41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87" y="0"/>
            <a:ext cx="24387048" cy="130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483" y="1244601"/>
            <a:ext cx="11829412" cy="1337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从钓鱼</a:t>
            </a:r>
            <a:r>
              <a:rPr lang="zh-CN" altLang="en-US" sz="6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渔</a:t>
            </a:r>
            <a:r>
              <a:rPr lang="en-US" sz="6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ans" pitchFamily="34" charset="0"/>
                <a:ea typeface="MiSans" pitchFamily="34" charset="-122"/>
                <a:cs typeface="MiSans" pitchFamily="34" charset="-120"/>
              </a:rPr>
              <a:t>闻到通用动态事件系统</a:t>
            </a:r>
            <a:endParaRPr lang="en-US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5" name="Image 2" descr="https://kimi-img.moonshot.cn/pub/slides/slides_tmpl/image/25-09-04-12:09:24-d2sh1t61bb2p4onbp3p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32667" y="8794801"/>
            <a:ext cx="317540" cy="95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4-12:09:24-d2sh1t61bb2p4onbp3p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91487" y="8636000"/>
            <a:ext cx="9526" cy="31750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4-12:09:24-d2sh1t61bb2p4onbp3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1338" y="7899400"/>
            <a:ext cx="1384473" cy="138430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4-12:09:15-d2sh1qu1bb2p4onbp2k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471372" y="9280525"/>
            <a:ext cx="9234054" cy="635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4-12:09:24-d2sh1t61bb2p4onbp3p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46556" y="8794801"/>
            <a:ext cx="317540" cy="9525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4-12:09:24-d2sh1t61bb2p4onbp3p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305376" y="8636000"/>
            <a:ext cx="9526" cy="31750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4-12:09:24-d2sh1t61bb2p4onbp3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05227" y="7899400"/>
            <a:ext cx="1384473" cy="1384300"/>
          </a:xfrm>
          <a:prstGeom prst="rect">
            <a:avLst/>
          </a:prstGeom>
        </p:spPr>
      </p:pic>
      <p:sp>
        <p:nvSpPr>
          <p:cNvPr id="13" name="Shape 2"/>
          <p:cNvSpPr/>
          <p:nvPr/>
        </p:nvSpPr>
        <p:spPr>
          <a:xfrm>
            <a:off x="20905227" y="7899400"/>
            <a:ext cx="1384473" cy="13843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ADAD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EBD25CA-0954-3B8E-7459-D04AF3AC65D0}"/>
              </a:ext>
            </a:extLst>
          </p:cNvPr>
          <p:cNvGrpSpPr/>
          <p:nvPr/>
        </p:nvGrpSpPr>
        <p:grpSpPr>
          <a:xfrm>
            <a:off x="1357483" y="7899400"/>
            <a:ext cx="10398367" cy="1528234"/>
            <a:chOff x="1357483" y="7899400"/>
            <a:chExt cx="10398367" cy="1528234"/>
          </a:xfrm>
        </p:grpSpPr>
        <p:pic>
          <p:nvPicPr>
            <p:cNvPr id="4" name="Image 1" descr="https://kimi-img.moonshot.cn/pub/slides/slides_tmpl/image/25-09-04-12:09:15-d2sh1qu1bb2p4onbp2k0.sv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57483" y="9280525"/>
              <a:ext cx="9234054" cy="6350"/>
            </a:xfrm>
            <a:prstGeom prst="rect">
              <a:avLst/>
            </a:prstGeom>
          </p:spPr>
        </p:pic>
        <p:sp>
          <p:nvSpPr>
            <p:cNvPr id="8" name="Shape 1"/>
            <p:cNvSpPr/>
            <p:nvPr/>
          </p:nvSpPr>
          <p:spPr>
            <a:xfrm>
              <a:off x="9791338" y="7899400"/>
              <a:ext cx="1384473" cy="13843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2700">
              <a:solidFill>
                <a:srgbClr val="ADADA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3"/>
            <p:cNvSpPr/>
            <p:nvPr/>
          </p:nvSpPr>
          <p:spPr>
            <a:xfrm>
              <a:off x="9211299" y="8077201"/>
              <a:ext cx="2544551" cy="13504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6400" dirty="0">
                  <a:solidFill>
                    <a:srgbClr val="DFDFD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</a:t>
              </a:r>
              <a:endParaRPr lang="en-US" sz="1600" dirty="0"/>
            </a:p>
          </p:txBody>
        </p:sp>
      </p:grpSp>
      <p:sp>
        <p:nvSpPr>
          <p:cNvPr id="15" name="Text 4"/>
          <p:cNvSpPr/>
          <p:nvPr/>
        </p:nvSpPr>
        <p:spPr>
          <a:xfrm>
            <a:off x="1357483" y="8534400"/>
            <a:ext cx="61729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可迁移玩法矩阵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1357483" y="9613901"/>
            <a:ext cx="9352602" cy="152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可迁移至狩猎传闻（区域、动物、危险等级验证猎获）、采集线索（资源点、类型、刷新时间验证采集）、商人消息（商品、地区、价格波动验证经济变化）、任务提示（NPC、地点、目标条件验证任务完成）。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20325188" y="8077201"/>
            <a:ext cx="2544551" cy="1350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64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7"/>
          <p:cNvSpPr/>
          <p:nvPr/>
        </p:nvSpPr>
        <p:spPr>
          <a:xfrm>
            <a:off x="12471372" y="8534400"/>
            <a:ext cx="61729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架构复用与替换点</a:t>
            </a:r>
            <a:endParaRPr lang="en-US" sz="1600" dirty="0"/>
          </a:p>
        </p:txBody>
      </p:sp>
      <p:sp>
        <p:nvSpPr>
          <p:cNvPr id="19" name="Text 8"/>
          <p:cNvSpPr/>
          <p:nvPr/>
        </p:nvSpPr>
        <p:spPr>
          <a:xfrm>
            <a:off x="12471372" y="9613901"/>
            <a:ext cx="9352602" cy="152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ADAD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意图路由、策略服务、候选事件生成器、协议校验器、动态事件注册表和结果分发器均可复用；不同玩法只需替换Gameplay Verifier验证逻辑，实现低成本扩展。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2:09:30-d2sh1um1bb2p4onbp4s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7064" y="3873500"/>
            <a:ext cx="5982448" cy="5981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05340" y="6677025"/>
            <a:ext cx="4960620" cy="1604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感谢观看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252710" y="5541010"/>
            <a:ext cx="3878580" cy="1359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DFDF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2128429" y="7442200"/>
            <a:ext cx="114314" cy="114300"/>
          </a:xfrm>
          <a:prstGeom prst="ellipse">
            <a:avLst/>
          </a:prstGeom>
          <a:solidFill>
            <a:srgbClr val="ADADA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2830867" y="-2489200"/>
            <a:ext cx="18709438" cy="1870710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ADADAD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51C71B4C-9563-FDCA-D222-73EEC271D2A0}"/>
              </a:ext>
            </a:extLst>
          </p:cNvPr>
          <p:cNvSpPr/>
          <p:nvPr/>
        </p:nvSpPr>
        <p:spPr>
          <a:xfrm>
            <a:off x="6500156" y="10050321"/>
            <a:ext cx="11891626" cy="1173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8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请各位老师批评指正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1029</Words>
  <Application>Microsoft Office PowerPoint</Application>
  <PresentationFormat>自定义</PresentationFormat>
  <Paragraphs>184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Arial</vt:lpstr>
      <vt:lpstr>MiSans</vt:lpstr>
      <vt:lpstr>微软雅黑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AI驱动动态事件：从聊天到玩法的工程闭环</dc:title>
  <dc:subject>AI驱动动态事件：从聊天到玩法的工程闭环</dc:subject>
  <dc:creator>Kimi</dc:creator>
  <cp:lastModifiedBy>3258642106@qq.com</cp:lastModifiedBy>
  <cp:revision>8</cp:revision>
  <dcterms:created xsi:type="dcterms:W3CDTF">2026-05-18T12:46:16Z</dcterms:created>
  <dcterms:modified xsi:type="dcterms:W3CDTF">2026-05-19T14:47:16Z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驱动动态事件：从聊天到玩法的工程闭环","ContentProducer":"001191110108MACG2KBH8F10000","ProduceID":"19e3b1c7-83c2-843e-8000-00008a5e916f","ReservedCode1":"","ContentPropagator":"001191110108MACG2KBH8F20000","PropagateID":"19e3b1c7-83c2-843e-8000-00008a5e916f","ReservedCode2":""}</vt:lpwstr>
  </property>
</Properties>
</file>